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e7d0cca7-2341-d7ae-4549-2ba9dab36367}">
          <p14:sldIdLst>
            <p14:sldId id="256"/>
            <p14:sldId id="257"/>
            <p14:sldId id="258"/>
            <p14:sldId id="259"/>
          </p14:sldIdLst>
        </p14:section>
        <p14:section name="Scene" id="{27f96ab2-730f-19d7-369e-7deccd4b008c}">
          <p14:sldIdLst>
            <p14:sldId id="260"/>
            <p14:sldId id="261"/>
            <p14:sldId id="262"/>
            <p14:sldId id="263"/>
            <p14:sldId id="264"/>
          </p14:sldIdLst>
        </p14:section>
        <p14:section name="OptiX" id="{5c9d20cc-7554-7077-294b-b8cbdd6438aa}">
          <p14:sldIdLst>
            <p14:sldId id="265"/>
            <p14:sldId id="266"/>
            <p14:sldId id="267"/>
            <p14:sldId id="268"/>
            <p14:sldId id="269"/>
          </p14:sldIdLst>
        </p14:section>
        <p14:section name="Application" id="{475fd258-60fc-ca6b-1b6c-42bb2f3ec1b2}">
          <p14:sldIdLst>
            <p14:sldId id="270"/>
            <p14:sldId id="271"/>
            <p14:sldId id="272"/>
            <p14:sldId id="273"/>
          </p14:sldIdLst>
        </p14:section>
        <p14:section name="XR" id="{c4e961f0-766a-8429-0875-4bad7a2d2c8a}">
          <p14:sldIdLst>
            <p14:sldId id="274"/>
            <p14:sldId id="275"/>
            <p14:sldId id="276"/>
            <p14:sldId id="277"/>
            <p14:sldId id="278"/>
          </p14:sldIdLst>
        </p14:section>
        <p14:section name="Wrap-up" id="{34c66b58-432f-fe67-277c-df1fa3c05f45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n-lt"/>
              </a:rPr>
              <a:t>Noise falls as 1/√N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noise</c:v>
                </c:pt>
              </c:strCache>
            </c:strRef>
          </c:tx>
          <c:spPr>
            <a:solidFill>
              <a:srgbClr val="76B900"/>
            </a:solidFill>
            <a:ln w="3810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8</c:v>
                  </c:pt>
                  <c:pt idx="4">
                    <c:v>16</c:v>
                  </c:pt>
                  <c:pt idx="5">
                    <c:v>32</c:v>
                  </c:pt>
                  <c:pt idx="6">
                    <c:v>64</c:v>
                  </c:pt>
                  <c:pt idx="7">
                    <c:v>128</c:v>
                  </c:pt>
                  <c:pt idx="8">
                    <c:v>256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0.7071067811865475</c:v>
                </c:pt>
                <c:pt idx="2">
                  <c:v>0.5</c:v>
                </c:pt>
                <c:pt idx="3">
                  <c:v>0.35355339059327373</c:v>
                </c:pt>
                <c:pt idx="4">
                  <c:v>0.25</c:v>
                </c:pt>
                <c:pt idx="5">
                  <c:v>0.17677669529663687</c:v>
                </c:pt>
                <c:pt idx="6">
                  <c:v>0.125</c:v>
                </c:pt>
                <c:pt idx="7">
                  <c:v>0.08838834764831843</c:v>
                </c:pt>
                <c:pt idx="8">
                  <c:v>0.0625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8B95A1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8B95A1"/>
                    </a:solidFill>
                    <a:latin typeface="+mn-lt"/>
                  </a:rPr>
                  <a:t>samples per pixel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2DD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walkthrough of the UsdOptixViewer source code, in the order the data flows: loading the USD stage, ray tracing it with OptiX, the desktop application, and the XR output through CloudXR.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exclude the third-party stb_image.h and cxrServiceAPI.h. The literate book in LiterateP/ contains every line of the 16 files with prose. Every library is installed for all users in /opt/viztools.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textured_scene.usda with --select /World/Box: the selected cube is highlighted, revealed in the tree and described in the inspector, with its texture, roughness and every USD attribute.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USD stage is the scene graph. Scene.* turns each renderable prim into a RenderMesh (local-space indexed mesh + transform) and resolves materials and cameras. OptixRenderer.* uploads them and launches the OptiX programs in devicePrograms.cu. App.* owns the window, the panels and the camera. XrOutput sends eye images to an OpenXR runtime.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load() opens the stage, then extractGeometry and extractCameras walk it with UsdTraverseInstanceProxies. Only renderable prims become RenderMesh records, so "is it drawn?" is meshIndex(path) &gt;=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weldCorners: meshopt_generateVertexRemapMulti merges corners with identical position, normal and st; triangles are grouped by material and spatially sorted (meshopt_spatialSortTriangles); meshopt_optimizeVertexFetchRemap stores vertices in first-use order. The mesh stays in local 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materialFor follows UsdShade connections through node graphs to the UsdPreviewSurface inputs. scalarInput handles packed maps: one texture channel per input, each with its own scale and bias.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material test scenes in UsdOptixViewer/assets, each after 256 accumulated samples.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 runs once (or again on the XR runtime's GPU, through release()). nvcc compiles the device programs to OptiX-IR (-optix-ir) at build time; cmake/EmbedFile.cmake embeds the binary as an unsigned char array, so the executable is self-contained.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Camera::w is unit length for desktop cameras. XR eyes use an off-centre w for asymmetric frusta, which is why they use no clipping range.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HitTriangle reads the hit mesh by optixGetInstanceId() and takes its vertices and normals to world space with the instance transform. sampleTexture picks the mip level from ray differentials: rays through neighbouring pixels are intersected with the triangle's plane and turned into st gradients for tex2DGrad.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accumulation buffer holds float sums; the displayed color is the average with an approximate sRGB (square root) encoding. Antialiasing comes for free from the jitter.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Synthetic X input does not reach SDL on this machine, which is why --select and --camera exist: they let scripted screenshots test selection and cameras.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Camera menu, the inspector's Look through button, or --camera. orbitFromUsdCamera inverts the orbit formulas so the first drag continues from the USD camera's pose. assets/camera_test.usda has five test cameras.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assets/camera_test.usda, started with --camera /World/Cameras/&lt;name&gt;. The window is fitted inside the square viewport, so the 3:2 film back shows extra scene above and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CloudXR runtime accepts only Vulkan apps (XR_KHR_vulkan_enable2). The runtime creates the Vulkan instance and device; Vulkan itself is dlopened, so no Vulkan SDK is needed to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eyes have a field of view of about 112 × 100 degrees, which is why the scene looks small in the mirror: a headset shows the same image across most of the user's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--cloudxr starts the CloudXR service in-process (CloudXrService dlopens libcloudxr.so and restores SDL's signal handlers); --xr uses a runtime already running, e.g. from Isaac Teleop. The SDK comes from --cloudxr-sdk, $CLOUDXR_SDK_DIR or /opt/viztools/cloudxr-6.2.1.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on October 27th: two sessions of 3 and 4 minutes with the color, alpha/depth, input and audio streams connected. The client only speaks TLS to 48322, so stunnel forwards to the runtime. The menu shows the runtime's port (48324), not stunnel's. Details in CLOUDXR.md.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CLAUDE.md has the exact build, test and book commands. Every code change must also update the matching chunk in LiterateP/src and pass lp.py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shared header shows what the GPU needs; Scene.cpp shows how USD becomes that; the device programs show how it becomes light; App.cpp ties 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Title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IMAG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0233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4023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37360" y="1737360"/>
            <a:ext cx="6858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Section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737360" y="2606040"/>
            <a:ext cx="6858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What this section covers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UsdOptixViewer · code walkthrough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ot-1" descr="Ray-traced spheres in gold and red plastic, from rough to mirror-smooth, on a checkered fl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0"/>
            <a:ext cx="4300032" cy="51435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UsdOptixViewer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60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How the code works: from a USD stage to ray-traced pixels, and on to a headset</a:t>
            </a:r>
            <a:endParaRPr lang="en-US" sz="1800" dirty="0"/>
          </a:p>
        </p:txBody>
      </p:sp>
      <p:sp>
        <p:nvSpPr>
          <p:cNvPr id="5" name="title-date"/>
          <p:cNvSpPr txBox="1"/>
          <p:nvPr/>
        </p:nvSpPr>
        <p:spPr>
          <a:xfrm>
            <a:off x="548640" y="4297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VizTools · ginebra ·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program at a glance</a:t>
            </a:r>
            <a:endParaRPr lang="en-US" sz="3000" dirty="0"/>
          </a:p>
        </p:txBody>
      </p:sp>
      <p:sp>
        <p:nvSpPr>
          <p:cNvPr id="3" name="stat-2"/>
          <p:cNvSpPr txBox="1"/>
          <p:nvPr/>
        </p:nvSpPr>
        <p:spPr>
          <a:xfrm>
            <a:off x="457200" y="10972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800" dirty="0"/>
          </a:p>
        </p:txBody>
      </p:sp>
      <p:sp>
        <p:nvSpPr>
          <p:cNvPr id="4" name="stat-label-3"/>
          <p:cNvSpPr txBox="1"/>
          <p:nvPr/>
        </p:nvSpPr>
        <p:spPr>
          <a:xfrm>
            <a:off x="457200" y="18745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source files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C++, CUDA and CMake</a:t>
            </a:r>
            <a:endParaRPr lang="en-US" sz="1600" dirty="0"/>
          </a:p>
        </p:txBody>
      </p:sp>
      <p:sp>
        <p:nvSpPr>
          <p:cNvPr id="5" name="stat-4"/>
          <p:cNvSpPr txBox="1"/>
          <p:nvPr/>
        </p:nvSpPr>
        <p:spPr>
          <a:xfrm>
            <a:off x="2560320" y="10972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4,600</a:t>
            </a:r>
            <a:endParaRPr lang="en-US" sz="4800" dirty="0"/>
          </a:p>
        </p:txBody>
      </p:sp>
      <p:sp>
        <p:nvSpPr>
          <p:cNvPr id="6" name="stat-label-5"/>
          <p:cNvSpPr txBox="1"/>
          <p:nvPr/>
        </p:nvSpPr>
        <p:spPr>
          <a:xfrm>
            <a:off x="2560320" y="18745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lines of code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plus stb_image</a:t>
            </a:r>
            <a:endParaRPr lang="en-US" sz="1600" dirty="0"/>
          </a:p>
        </p:txBody>
      </p:sp>
      <p:sp>
        <p:nvSpPr>
          <p:cNvPr id="7" name="stat-6"/>
          <p:cNvSpPr txBox="1"/>
          <p:nvPr/>
        </p:nvSpPr>
        <p:spPr>
          <a:xfrm>
            <a:off x="4663440" y="10972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8" name="stat-label-7"/>
          <p:cNvSpPr txBox="1"/>
          <p:nvPr/>
        </p:nvSpPr>
        <p:spPr>
          <a:xfrm>
            <a:off x="4663440" y="18745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libraries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OpenUSD, meshoptimizer, OptiX, SDL3 + ImGui, OpenXR</a:t>
            </a:r>
            <a:endParaRPr lang="en-US" sz="1600" dirty="0"/>
          </a:p>
        </p:txBody>
      </p:sp>
      <p:sp>
        <p:nvSpPr>
          <p:cNvPr id="9" name="stat-8"/>
          <p:cNvSpPr txBox="1"/>
          <p:nvPr/>
        </p:nvSpPr>
        <p:spPr>
          <a:xfrm>
            <a:off x="6766560" y="10972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4800" dirty="0"/>
          </a:p>
        </p:txBody>
      </p:sp>
      <p:sp>
        <p:nvSpPr>
          <p:cNvPr id="10" name="stat-label-9"/>
          <p:cNvSpPr txBox="1"/>
          <p:nvPr/>
        </p:nvSpPr>
        <p:spPr>
          <a:xfrm>
            <a:off x="6766560" y="18745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book pages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every line explained</a:t>
            </a:r>
            <a:endParaRPr lang="en-US" sz="1600" dirty="0"/>
          </a:p>
        </p:txBody>
      </p:sp>
      <p:sp>
        <p:nvSpPr>
          <p:cNvPr id="11" name="card-10"/>
          <p:cNvSpPr/>
          <p:nvPr/>
        </p:nvSpPr>
        <p:spPr>
          <a:xfrm>
            <a:off x="457200" y="2743200"/>
            <a:ext cx="822960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head-11"/>
          <p:cNvSpPr txBox="1"/>
          <p:nvPr/>
        </p:nvSpPr>
        <p:spPr>
          <a:xfrm>
            <a:off x="640080" y="2880360"/>
            <a:ext cx="7909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does</a:t>
            </a:r>
            <a:endParaRPr lang="en-US" sz="1600" dirty="0"/>
          </a:p>
        </p:txBody>
      </p:sp>
      <p:sp>
        <p:nvSpPr>
          <p:cNvPr id="13" name="card-body-12"/>
          <p:cNvSpPr txBox="1"/>
          <p:nvPr/>
        </p:nvSpPr>
        <p:spPr>
          <a:xfrm>
            <a:off x="640080" y="3337560"/>
            <a:ext cx="7909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Opens .usd/.usda/.usdc/.usdz stages, shows the prim tree and every property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Ray traces the geometry with UsdPreviewSurface materials, textures, shadows and glossy reflections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Looks through USD cameras and streams stereo to a headset (Vision Pro tested) through CloudXR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viewer at work</a:t>
            </a:r>
            <a:endParaRPr lang="en-US" sz="3000" dirty="0"/>
          </a:p>
        </p:txBody>
      </p:sp>
      <p:pic>
        <p:nvPicPr>
          <p:cNvPr id="3" name="shot-13" descr="The viewer window: prim tree on the left, ray-traced textured cube in the middle, inspector on the 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765733" cy="3063240"/>
          </a:xfrm>
          <a:prstGeom prst="rect">
            <a:avLst/>
          </a:prstGeom>
        </p:spPr>
      </p:pic>
      <p:sp>
        <p:nvSpPr>
          <p:cNvPr id="4" name="badge-14"/>
          <p:cNvSpPr/>
          <p:nvPr/>
        </p:nvSpPr>
        <p:spPr>
          <a:xfrm>
            <a:off x="6497253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-text-15"/>
          <p:cNvSpPr txBox="1"/>
          <p:nvPr/>
        </p:nvSpPr>
        <p:spPr>
          <a:xfrm>
            <a:off x="6497253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caption-16"/>
          <p:cNvSpPr txBox="1"/>
          <p:nvPr/>
        </p:nvSpPr>
        <p:spPr>
          <a:xfrm>
            <a:off x="6972741" y="1143000"/>
            <a:ext cx="17140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Hierarchy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prims of the stage, filter by name</a:t>
            </a:r>
            <a:endParaRPr lang="en-US" sz="1400" dirty="0"/>
          </a:p>
        </p:txBody>
      </p:sp>
      <p:sp>
        <p:nvSpPr>
          <p:cNvPr id="7" name="badge-17"/>
          <p:cNvSpPr/>
          <p:nvPr/>
        </p:nvSpPr>
        <p:spPr>
          <a:xfrm>
            <a:off x="6497253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badge-text-18"/>
          <p:cNvSpPr txBox="1"/>
          <p:nvPr/>
        </p:nvSpPr>
        <p:spPr>
          <a:xfrm>
            <a:off x="6497253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caption-19"/>
          <p:cNvSpPr txBox="1"/>
          <p:nvPr/>
        </p:nvSpPr>
        <p:spPr>
          <a:xfrm>
            <a:off x="6972741" y="2011680"/>
            <a:ext cx="17140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Viewport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OptiX image; click to pick</a:t>
            </a:r>
            <a:endParaRPr lang="en-US" sz="1400" dirty="0"/>
          </a:p>
        </p:txBody>
      </p:sp>
      <p:sp>
        <p:nvSpPr>
          <p:cNvPr id="10" name="badge-20"/>
          <p:cNvSpPr/>
          <p:nvPr/>
        </p:nvSpPr>
        <p:spPr>
          <a:xfrm>
            <a:off x="6497253" y="2880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adge-text-21"/>
          <p:cNvSpPr txBox="1"/>
          <p:nvPr/>
        </p:nvSpPr>
        <p:spPr>
          <a:xfrm>
            <a:off x="6497253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caption-22"/>
          <p:cNvSpPr txBox="1"/>
          <p:nvPr/>
        </p:nvSpPr>
        <p:spPr>
          <a:xfrm>
            <a:off x="6972741" y="2880360"/>
            <a:ext cx="17140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Inspector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prim, material, properties</a:t>
            </a:r>
            <a:endParaRPr lang="en-US" sz="1400" dirty="0"/>
          </a:p>
        </p:txBody>
      </p:sp>
      <p:sp>
        <p:nvSpPr>
          <p:cNvPr id="13" name="badge-23"/>
          <p:cNvSpPr/>
          <p:nvPr/>
        </p:nvSpPr>
        <p:spPr>
          <a:xfrm>
            <a:off x="6497253" y="3749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adge-text-24"/>
          <p:cNvSpPr txBox="1"/>
          <p:nvPr/>
        </p:nvSpPr>
        <p:spPr>
          <a:xfrm>
            <a:off x="6497253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caption-25"/>
          <p:cNvSpPr txBox="1"/>
          <p:nvPr/>
        </p:nvSpPr>
        <p:spPr>
          <a:xfrm>
            <a:off x="6972741" y="3749040"/>
            <a:ext cx="17140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Status bar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counts, camera, samples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Architecture: data flows left to right</a:t>
            </a:r>
            <a:endParaRPr lang="en-US" sz="3000" dirty="0"/>
          </a:p>
        </p:txBody>
      </p:sp>
      <p:sp>
        <p:nvSpPr>
          <p:cNvPr id="3" name="box-26"/>
          <p:cNvSpPr/>
          <p:nvPr/>
        </p:nvSpPr>
        <p:spPr>
          <a:xfrm>
            <a:off x="457200" y="137160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box-text-27"/>
          <p:cNvSpPr txBox="1"/>
          <p:nvPr/>
        </p:nvSpPr>
        <p:spPr>
          <a:xfrm>
            <a:off x="530352" y="1371600"/>
            <a:ext cx="1636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USD stage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OpenUSD</a:t>
            </a:r>
            <a:endParaRPr lang="en-US" sz="1400" dirty="0"/>
          </a:p>
        </p:txBody>
      </p:sp>
      <p:sp>
        <p:nvSpPr>
          <p:cNvPr id="5" name="box-28"/>
          <p:cNvSpPr/>
          <p:nvPr/>
        </p:nvSpPr>
        <p:spPr>
          <a:xfrm>
            <a:off x="2606040" y="1371600"/>
            <a:ext cx="17830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box-text-29"/>
          <p:cNvSpPr txBox="1"/>
          <p:nvPr/>
        </p:nvSpPr>
        <p:spPr>
          <a:xfrm>
            <a:off x="2679192" y="1371600"/>
            <a:ext cx="1636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Scene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RenderMesh per prim, materials, cameras</a:t>
            </a:r>
            <a:endParaRPr lang="en-US" sz="1400" dirty="0"/>
          </a:p>
        </p:txBody>
      </p:sp>
      <p:sp>
        <p:nvSpPr>
          <p:cNvPr id="7" name="box-30"/>
          <p:cNvSpPr/>
          <p:nvPr/>
        </p:nvSpPr>
        <p:spPr>
          <a:xfrm>
            <a:off x="4754880" y="1371600"/>
            <a:ext cx="17830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box-text-31"/>
          <p:cNvSpPr txBox="1"/>
          <p:nvPr/>
        </p:nvSpPr>
        <p:spPr>
          <a:xfrm>
            <a:off x="4828032" y="1371600"/>
            <a:ext cx="1636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OptixRenderer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GAS per mesh, IAS, SBT</a:t>
            </a:r>
            <a:endParaRPr lang="en-US" sz="1400" dirty="0"/>
          </a:p>
        </p:txBody>
      </p:sp>
      <p:sp>
        <p:nvSpPr>
          <p:cNvPr id="9" name="box-32"/>
          <p:cNvSpPr/>
          <p:nvPr/>
        </p:nvSpPr>
        <p:spPr>
          <a:xfrm>
            <a:off x="6903720" y="1371600"/>
            <a:ext cx="178308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ox-text-33"/>
          <p:cNvSpPr txBox="1"/>
          <p:nvPr/>
        </p:nvSpPr>
        <p:spPr>
          <a:xfrm>
            <a:off x="6976872" y="1371600"/>
            <a:ext cx="1636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Device programs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devicePrograms.cu, on the GPU</a:t>
            </a:r>
            <a:endParaRPr lang="en-US" sz="1400" dirty="0"/>
          </a:p>
        </p:txBody>
      </p:sp>
      <p:sp>
        <p:nvSpPr>
          <p:cNvPr id="11" name="arrow-34"/>
          <p:cNvSpPr/>
          <p:nvPr/>
        </p:nvSpPr>
        <p:spPr>
          <a:xfrm>
            <a:off x="2240280" y="1874520"/>
            <a:ext cx="36576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arrow-35"/>
          <p:cNvSpPr/>
          <p:nvPr/>
        </p:nvSpPr>
        <p:spPr>
          <a:xfrm>
            <a:off x="4389120" y="1874520"/>
            <a:ext cx="36576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3" name="arrow-36"/>
          <p:cNvSpPr/>
          <p:nvPr/>
        </p:nvSpPr>
        <p:spPr>
          <a:xfrm>
            <a:off x="6537960" y="1874520"/>
            <a:ext cx="36576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box-37"/>
          <p:cNvSpPr/>
          <p:nvPr/>
        </p:nvSpPr>
        <p:spPr>
          <a:xfrm>
            <a:off x="2606040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ox-text-38"/>
          <p:cNvSpPr txBox="1"/>
          <p:nvPr/>
        </p:nvSpPr>
        <p:spPr>
          <a:xfrm>
            <a:off x="2679192" y="3063240"/>
            <a:ext cx="1636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SDL3 window, ImGui panels</a:t>
            </a:r>
            <a:endParaRPr lang="en-US" sz="1400" dirty="0"/>
          </a:p>
        </p:txBody>
      </p:sp>
      <p:sp>
        <p:nvSpPr>
          <p:cNvPr id="16" name="box-39"/>
          <p:cNvSpPr/>
          <p:nvPr/>
        </p:nvSpPr>
        <p:spPr>
          <a:xfrm>
            <a:off x="6903720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box-text-40"/>
          <p:cNvSpPr txBox="1"/>
          <p:nvPr/>
        </p:nvSpPr>
        <p:spPr>
          <a:xfrm>
            <a:off x="6976872" y="3063240"/>
            <a:ext cx="1636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XrOutput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OpenXR / CloudXR</a:t>
            </a:r>
            <a:endParaRPr lang="en-US" sz="1400" dirty="0"/>
          </a:p>
        </p:txBody>
      </p:sp>
      <p:sp>
        <p:nvSpPr>
          <p:cNvPr id="18" name="arrow-41"/>
          <p:cNvSpPr/>
          <p:nvPr/>
        </p:nvSpPr>
        <p:spPr>
          <a:xfrm flipV="1">
            <a:off x="3497580" y="2377440"/>
            <a:ext cx="0" cy="68580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arrow-42"/>
          <p:cNvSpPr/>
          <p:nvPr/>
        </p:nvSpPr>
        <p:spPr>
          <a:xfrm flipH="1">
            <a:off x="4389120" y="3520440"/>
            <a:ext cx="36576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0" name="arrow-43"/>
          <p:cNvSpPr/>
          <p:nvPr/>
        </p:nvSpPr>
        <p:spPr>
          <a:xfrm>
            <a:off x="7795260" y="2377440"/>
            <a:ext cx="0" cy="68580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1" name="label-pixels"/>
          <p:cNvSpPr txBox="1"/>
          <p:nvPr/>
        </p:nvSpPr>
        <p:spPr>
          <a:xfrm>
            <a:off x="4754880" y="3154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pixels + mesh ids</a:t>
            </a:r>
            <a:endParaRPr lang="en-US" sz="1100" dirty="0"/>
          </a:p>
        </p:txBody>
      </p:sp>
      <p:sp>
        <p:nvSpPr>
          <p:cNvPr id="22" name="label-launch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LaunchParams.h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is the one structure both CPU and GPU read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-44"/>
          <p:cNvSpPr/>
          <p:nvPr/>
        </p:nvSpPr>
        <p:spPr>
          <a:xfrm>
            <a:off x="5486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badge-text-45"/>
          <p:cNvSpPr txBox="1"/>
          <p:nvPr/>
        </p:nvSpPr>
        <p:spPr>
          <a:xfrm>
            <a:off x="5486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737360" y="17373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Loading the scene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737360" y="26060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Scene.h / Scene.cpp: USD stage → one RenderMesh per prim → GPU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stage is the scene graph</a:t>
            </a:r>
            <a:endParaRPr lang="en-US" sz="3000" dirty="0"/>
          </a:p>
        </p:txBody>
      </p:sp>
      <p:sp>
        <p:nvSpPr>
          <p:cNvPr id="3" name="use-46"/>
          <p:cNvSpPr/>
          <p:nvPr/>
        </p:nvSpPr>
        <p:spPr>
          <a:xfrm>
            <a:off x="457200" y="1188720"/>
            <a:ext cx="393192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47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-text-48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use-text-49"/>
          <p:cNvSpPr txBox="1"/>
          <p:nvPr/>
        </p:nvSpPr>
        <p:spPr>
          <a:xfrm>
            <a:off x="1097280" y="118872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Hierarchy panel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walks UsdPrim children, filters by name</a:t>
            </a:r>
            <a:endParaRPr lang="en-US" sz="1400" dirty="0"/>
          </a:p>
        </p:txBody>
      </p:sp>
      <p:sp>
        <p:nvSpPr>
          <p:cNvPr id="7" name="use-50"/>
          <p:cNvSpPr/>
          <p:nvPr/>
        </p:nvSpPr>
        <p:spPr>
          <a:xfrm>
            <a:off x="457200" y="1993392"/>
            <a:ext cx="393192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badge-51"/>
          <p:cNvSpPr/>
          <p:nvPr/>
        </p:nvSpPr>
        <p:spPr>
          <a:xfrm>
            <a:off x="594360" y="21305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badge-text-52"/>
          <p:cNvSpPr txBox="1"/>
          <p:nvPr/>
        </p:nvSpPr>
        <p:spPr>
          <a:xfrm>
            <a:off x="594360" y="2130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endParaRPr lang="en-US" sz="1400" dirty="0"/>
          </a:p>
        </p:txBody>
      </p:sp>
      <p:sp>
        <p:nvSpPr>
          <p:cNvPr id="10" name="use-text-53"/>
          <p:cNvSpPr txBox="1"/>
          <p:nvPr/>
        </p:nvSpPr>
        <p:spPr>
          <a:xfrm>
            <a:off x="1097280" y="199339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Inspector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reads the prim's type and properties</a:t>
            </a:r>
            <a:endParaRPr lang="en-US" sz="1400" dirty="0"/>
          </a:p>
        </p:txBody>
      </p:sp>
      <p:sp>
        <p:nvSpPr>
          <p:cNvPr id="11" name="use-54"/>
          <p:cNvSpPr/>
          <p:nvPr/>
        </p:nvSpPr>
        <p:spPr>
          <a:xfrm>
            <a:off x="457200" y="2798064"/>
            <a:ext cx="393192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badge-55"/>
          <p:cNvSpPr/>
          <p:nvPr/>
        </p:nvSpPr>
        <p:spPr>
          <a:xfrm>
            <a:off x="594360" y="29352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badge-text-56"/>
          <p:cNvSpPr txBox="1"/>
          <p:nvPr/>
        </p:nvSpPr>
        <p:spPr>
          <a:xfrm>
            <a:off x="59436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endParaRPr lang="en-US" sz="1400" dirty="0"/>
          </a:p>
        </p:txBody>
      </p:sp>
      <p:sp>
        <p:nvSpPr>
          <p:cNvPr id="14" name="use-text-57"/>
          <p:cNvSpPr txBox="1"/>
          <p:nvPr/>
        </p:nvSpPr>
        <p:spPr>
          <a:xfrm>
            <a:off x="1097280" y="2798064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meshIndex(SdfPath)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prim → RenderMesh id, for --select</a:t>
            </a:r>
            <a:endParaRPr lang="en-US" sz="1400" dirty="0"/>
          </a:p>
        </p:txBody>
      </p:sp>
      <p:sp>
        <p:nvSpPr>
          <p:cNvPr id="15" name="use-58"/>
          <p:cNvSpPr/>
          <p:nvPr/>
        </p:nvSpPr>
        <p:spPr>
          <a:xfrm>
            <a:off x="457200" y="3602736"/>
            <a:ext cx="393192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adge-59"/>
          <p:cNvSpPr/>
          <p:nvPr/>
        </p:nvSpPr>
        <p:spPr>
          <a:xfrm>
            <a:off x="594360" y="3739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badge-text-60"/>
          <p:cNvSpPr txBox="1"/>
          <p:nvPr/>
        </p:nvSpPr>
        <p:spPr>
          <a:xfrm>
            <a:off x="59436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endParaRPr lang="en-US" sz="1400" dirty="0"/>
          </a:p>
        </p:txBody>
      </p:sp>
      <p:sp>
        <p:nvSpPr>
          <p:cNvPr id="18" name="use-text-61"/>
          <p:cNvSpPr txBox="1"/>
          <p:nvPr/>
        </p:nvSpPr>
        <p:spPr>
          <a:xfrm>
            <a:off x="1097280" y="3602736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cameraIndex(SdfPath)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prim → SceneCamera, for --camera</a:t>
            </a:r>
            <a:endParaRPr lang="en-US" sz="1400" dirty="0"/>
          </a:p>
        </p:txBody>
      </p:sp>
      <p:sp>
        <p:nvSpPr>
          <p:cNvPr id="19" name="card-62"/>
          <p:cNvSpPr/>
          <p:nvPr/>
        </p:nvSpPr>
        <p:spPr>
          <a:xfrm>
            <a:off x="4754880" y="1188720"/>
            <a:ext cx="3931920" cy="3218688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head-63"/>
          <p:cNvSpPr txBox="1"/>
          <p:nvPr/>
        </p:nvSpPr>
        <p:spPr>
          <a:xfrm>
            <a:off x="4937760" y="132588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second scene graph</a:t>
            </a:r>
            <a:endParaRPr lang="en-US" sz="1600" dirty="0"/>
          </a:p>
        </p:txBody>
      </p:sp>
      <p:sp>
        <p:nvSpPr>
          <p:cNvPr id="21" name="card-body-64"/>
          <p:cNvSpPr txBox="1"/>
          <p:nvPr/>
        </p:nvSpPr>
        <p:spPr>
          <a:xfrm>
            <a:off x="4937760" y="1783080"/>
            <a:ext cx="361188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Names, types and the tree come straight from USD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selection is an SdfPath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Picking: mesh id → RenderMesh::path → prim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Instance proxies are traversed, so instanced models appear in full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From prim to RenderMesh</a:t>
            </a:r>
            <a:endParaRPr lang="en-US" sz="3000" dirty="0"/>
          </a:p>
        </p:txBody>
      </p:sp>
      <p:sp>
        <p:nvSpPr>
          <p:cNvPr id="3" name="badge-65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badge-text-66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-head-67"/>
          <p:cNvSpPr txBox="1"/>
          <p:nvPr/>
        </p:nvSpPr>
        <p:spPr>
          <a:xfrm>
            <a:off x="932688" y="12344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Triangulate</a:t>
            </a:r>
            <a:endParaRPr lang="en-US" sz="1600" dirty="0"/>
          </a:p>
        </p:txBody>
      </p:sp>
      <p:sp>
        <p:nvSpPr>
          <p:cNvPr id="6" name="step-body-68"/>
          <p:cNvSpPr txBox="1"/>
          <p:nvPr/>
        </p:nvSpPr>
        <p:spPr>
          <a:xfrm>
            <a:off x="457200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Mesh faces fan-split; Cube and Sphere generated</a:t>
            </a:r>
            <a:endParaRPr lang="en-US" sz="1300" dirty="0"/>
          </a:p>
        </p:txBody>
      </p:sp>
      <p:sp>
        <p:nvSpPr>
          <p:cNvPr id="7" name="arrow-69"/>
          <p:cNvSpPr/>
          <p:nvPr/>
        </p:nvSpPr>
        <p:spPr>
          <a:xfrm>
            <a:off x="2331720" y="1426464"/>
            <a:ext cx="22860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badge-70"/>
          <p:cNvSpPr/>
          <p:nvPr/>
        </p:nvSpPr>
        <p:spPr>
          <a:xfrm>
            <a:off x="2560320" y="12344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badge-text-71"/>
          <p:cNvSpPr txBox="1"/>
          <p:nvPr/>
        </p:nvSpPr>
        <p:spPr>
          <a:xfrm>
            <a:off x="256032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head-72"/>
          <p:cNvSpPr txBox="1"/>
          <p:nvPr/>
        </p:nvSpPr>
        <p:spPr>
          <a:xfrm>
            <a:off x="3035808" y="12344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Orient</a:t>
            </a:r>
            <a:endParaRPr lang="en-US" sz="1600" dirty="0"/>
          </a:p>
        </p:txBody>
      </p:sp>
      <p:sp>
        <p:nvSpPr>
          <p:cNvPr id="11" name="step-body-73"/>
          <p:cNvSpPr txBox="1"/>
          <p:nvPr/>
        </p:nvSpPr>
        <p:spPr>
          <a:xfrm>
            <a:off x="2560320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leftHanded meshes rewound, so e1 × e2 is the outward normal</a:t>
            </a:r>
            <a:endParaRPr lang="en-US" sz="1300" dirty="0"/>
          </a:p>
        </p:txBody>
      </p:sp>
      <p:sp>
        <p:nvSpPr>
          <p:cNvPr id="12" name="arrow-74"/>
          <p:cNvSpPr/>
          <p:nvPr/>
        </p:nvSpPr>
        <p:spPr>
          <a:xfrm>
            <a:off x="4434840" y="1426464"/>
            <a:ext cx="22860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3" name="badge-75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adge-text-76"/>
          <p:cNvSpPr txBox="1"/>
          <p:nvPr/>
        </p:nvSpPr>
        <p:spPr>
          <a:xfrm>
            <a:off x="46634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step-head-77"/>
          <p:cNvSpPr txBox="1"/>
          <p:nvPr/>
        </p:nvSpPr>
        <p:spPr>
          <a:xfrm>
            <a:off x="5138928" y="12344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Shade</a:t>
            </a:r>
            <a:endParaRPr lang="en-US" sz="1600" dirty="0"/>
          </a:p>
        </p:txBody>
      </p:sp>
      <p:sp>
        <p:nvSpPr>
          <p:cNvPr id="16" name="step-body-78"/>
          <p:cNvSpPr txBox="1"/>
          <p:nvPr/>
        </p:nvSpPr>
        <p:spPr>
          <a:xfrm>
            <a:off x="4663440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authored normals, smooth for subdivision, flat for "none"</a:t>
            </a:r>
            <a:endParaRPr lang="en-US" sz="1300" dirty="0"/>
          </a:p>
        </p:txBody>
      </p:sp>
      <p:sp>
        <p:nvSpPr>
          <p:cNvPr id="17" name="arrow-79"/>
          <p:cNvSpPr/>
          <p:nvPr/>
        </p:nvSpPr>
        <p:spPr>
          <a:xfrm>
            <a:off x="6537960" y="1426464"/>
            <a:ext cx="22860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8" name="badge-80"/>
          <p:cNvSpPr/>
          <p:nvPr/>
        </p:nvSpPr>
        <p:spPr>
          <a:xfrm>
            <a:off x="6766560" y="12344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badge-text-81"/>
          <p:cNvSpPr txBox="1"/>
          <p:nvPr/>
        </p:nvSpPr>
        <p:spPr>
          <a:xfrm>
            <a:off x="676656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step-head-82"/>
          <p:cNvSpPr txBox="1"/>
          <p:nvPr/>
        </p:nvSpPr>
        <p:spPr>
          <a:xfrm>
            <a:off x="7242048" y="12344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Weld</a:t>
            </a:r>
            <a:endParaRPr lang="en-US" sz="1600" dirty="0"/>
          </a:p>
        </p:txBody>
      </p:sp>
      <p:sp>
        <p:nvSpPr>
          <p:cNvPr id="21" name="step-body-83"/>
          <p:cNvSpPr txBox="1"/>
          <p:nvPr/>
        </p:nvSpPr>
        <p:spPr>
          <a:xfrm>
            <a:off x="6766560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meshoptimizer merges equal corners, sorts by material and space</a:t>
            </a:r>
            <a:endParaRPr lang="en-US" sz="1300" dirty="0"/>
          </a:p>
        </p:txBody>
      </p:sp>
      <p:sp>
        <p:nvSpPr>
          <p:cNvPr id="22" name="code-bg-84"/>
          <p:cNvSpPr/>
          <p:nvPr/>
        </p:nvSpPr>
        <p:spPr>
          <a:xfrm>
            <a:off x="457200" y="2834640"/>
            <a:ext cx="5669280" cy="1691640"/>
          </a:xfrm>
          <a:prstGeom prst="roundRect">
            <a:avLst>
              <a:gd name="adj" fmla="val 324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code-85"/>
          <p:cNvSpPr txBox="1"/>
          <p:nvPr/>
        </p:nvSpPr>
        <p:spPr>
          <a:xfrm>
            <a:off x="640080" y="2944368"/>
            <a:ext cx="530352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RenderMesh {           // one per renderable prim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SdfPath path;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array&lt;float,12&gt; toWorld;  // local → world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positions, normals, uvs;  // per vertex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indices, triMaterial;     // per triangle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200" dirty="0"/>
          </a:p>
        </p:txBody>
      </p:sp>
      <p:sp>
        <p:nvSpPr>
          <p:cNvPr id="24" name="weld-stat"/>
          <p:cNvSpPr txBox="1"/>
          <p:nvPr/>
        </p:nvSpPr>
        <p:spPr>
          <a:xfrm>
            <a:off x="640080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→ 20</a:t>
            </a:r>
            <a:endParaRPr lang="en-US" sz="4000" dirty="0"/>
          </a:p>
        </p:txBody>
      </p:sp>
      <p:sp>
        <p:nvSpPr>
          <p:cNvPr id="25" name="weld-label"/>
          <p:cNvSpPr txBox="1"/>
          <p:nvPr/>
        </p:nvSpPr>
        <p:spPr>
          <a:xfrm>
            <a:off x="640080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corners → vertices in the textured box after welding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Materials and textures</a:t>
            </a:r>
            <a:endParaRPr lang="en-US" sz="3000" dirty="0"/>
          </a:p>
        </p:txBody>
      </p:sp>
      <p:sp>
        <p:nvSpPr>
          <p:cNvPr id="3" name="card-86"/>
          <p:cNvSpPr/>
          <p:nvPr/>
        </p:nvSpPr>
        <p:spPr>
          <a:xfrm>
            <a:off x="457200" y="1188720"/>
            <a:ext cx="397764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87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-text-88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</a:t>
            </a:r>
            <a:endParaRPr lang="en-US" sz="1400" dirty="0"/>
          </a:p>
        </p:txBody>
      </p:sp>
      <p:sp>
        <p:nvSpPr>
          <p:cNvPr id="6" name="card-head-89"/>
          <p:cNvSpPr txBox="1"/>
          <p:nvPr/>
        </p:nvSpPr>
        <p:spPr>
          <a:xfrm>
            <a:off x="1078992" y="1325880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UsdPreviewSurface subset</a:t>
            </a:r>
            <a:endParaRPr lang="en-US" sz="1600" dirty="0"/>
          </a:p>
        </p:txBody>
      </p:sp>
      <p:sp>
        <p:nvSpPr>
          <p:cNvPr id="7" name="card-body-90"/>
          <p:cNvSpPr txBox="1"/>
          <p:nvPr/>
        </p:nvSpPr>
        <p:spPr>
          <a:xfrm>
            <a:off x="640080" y="178308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diffuseColor: constant or texture × scale + bias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normal: tangent-space map, frame from positions and st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roughness, metallic, ior: constants or any texture channel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useSpecularWorkflow with specularColor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opacity + opacityThreshold: alpha cutouts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GeomSubsets give faces their own material</a:t>
            </a:r>
            <a:endParaRPr lang="en-US" sz="1300" dirty="0"/>
          </a:p>
        </p:txBody>
      </p:sp>
      <p:sp>
        <p:nvSpPr>
          <p:cNvPr id="8" name="card-91"/>
          <p:cNvSpPr/>
          <p:nvPr/>
        </p:nvSpPr>
        <p:spPr>
          <a:xfrm>
            <a:off x="4709160" y="1188720"/>
            <a:ext cx="397764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92"/>
          <p:cNvSpPr/>
          <p:nvPr/>
        </p:nvSpPr>
        <p:spPr>
          <a:xfrm>
            <a:off x="484632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adge-text-93"/>
          <p:cNvSpPr txBox="1"/>
          <p:nvPr/>
        </p:nvSpPr>
        <p:spPr>
          <a:xfrm>
            <a:off x="48463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</a:t>
            </a:r>
            <a:endParaRPr lang="en-US" sz="1400" dirty="0"/>
          </a:p>
        </p:txBody>
      </p:sp>
      <p:sp>
        <p:nvSpPr>
          <p:cNvPr id="11" name="card-head-94"/>
          <p:cNvSpPr txBox="1"/>
          <p:nvPr/>
        </p:nvSpPr>
        <p:spPr>
          <a:xfrm>
            <a:off x="5330952" y="1325880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Textures</a:t>
            </a:r>
            <a:endParaRPr lang="en-US" sz="1600" dirty="0"/>
          </a:p>
        </p:txBody>
      </p:sp>
      <p:sp>
        <p:nvSpPr>
          <p:cNvPr id="12" name="card-body-95"/>
          <p:cNvSpPr txBox="1"/>
          <p:nvPr/>
        </p:nvSpPr>
        <p:spPr>
          <a:xfrm>
            <a:off x="4892040" y="178308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Read through ArResolver, so files inside .usdz work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Decoded with stb_image, cached by path and settings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CPU-built mip chain, averaged in linear space for sRGB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Uploaded as mipmapped CUDA arrays with trilinear, 8× anisotropic filtering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Unsupported inputs become inspector warnings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renderer draws</a:t>
            </a:r>
            <a:endParaRPr lang="en-US" sz="3000" dirty="0"/>
          </a:p>
        </p:txBody>
      </p:sp>
      <p:pic>
        <p:nvPicPr>
          <p:cNvPr id="3" name="shot-96" descr="Spheres from mirror-smooth to rough in gold and red plastic, reflected in the fl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331720" cy="1554480"/>
          </a:xfrm>
          <a:prstGeom prst="rect">
            <a:avLst/>
          </a:prstGeom>
        </p:spPr>
      </p:pic>
      <p:sp>
        <p:nvSpPr>
          <p:cNvPr id="4" name="caption-97"/>
          <p:cNvSpPr txBox="1"/>
          <p:nvPr/>
        </p:nvSpPr>
        <p:spPr>
          <a:xfrm>
            <a:off x="2971800" y="114300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Roughness and metallic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gold and plastic chart, GGX reflections</a:t>
            </a:r>
            <a:endParaRPr lang="en-US" sz="1400" dirty="0"/>
          </a:p>
        </p:txBody>
      </p:sp>
      <p:pic>
        <p:nvPicPr>
          <p:cNvPr id="5" name="shot-98" descr="A cube and a wall with a checker and arrow tex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2331720" cy="1554480"/>
          </a:xfrm>
          <a:prstGeom prst="rect">
            <a:avLst/>
          </a:prstGeom>
        </p:spPr>
      </p:pic>
      <p:sp>
        <p:nvSpPr>
          <p:cNvPr id="6" name="caption-99"/>
          <p:cNvSpPr txBox="1"/>
          <p:nvPr/>
        </p:nvSpPr>
        <p:spPr>
          <a:xfrm>
            <a:off x="7178040" y="114300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Textures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UV grids; every "UP" arrow points up</a:t>
            </a:r>
            <a:endParaRPr lang="en-US" sz="1400" dirty="0"/>
          </a:p>
        </p:txBody>
      </p:sp>
      <p:pic>
        <p:nvPicPr>
          <p:cNvPr id="7" name="shot-100" descr="Three walls with bump normal maps above a textured flo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80360"/>
            <a:ext cx="2331720" cy="1554480"/>
          </a:xfrm>
          <a:prstGeom prst="rect">
            <a:avLst/>
          </a:prstGeom>
        </p:spPr>
      </p:pic>
      <p:sp>
        <p:nvSpPr>
          <p:cNvPr id="8" name="caption-101"/>
          <p:cNvSpPr txBox="1"/>
          <p:nvPr/>
        </p:nvSpPr>
        <p:spPr>
          <a:xfrm>
            <a:off x="2971800" y="29260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Normal maps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bump lit on its upper right</a:t>
            </a:r>
            <a:endParaRPr lang="en-US" sz="1400" dirty="0"/>
          </a:p>
        </p:txBody>
      </p:sp>
      <p:pic>
        <p:nvPicPr>
          <p:cNvPr id="9" name="shot-102" descr="A large floor with a repeated texture, filtered smoothly in the distan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880360"/>
            <a:ext cx="2331720" cy="1554480"/>
          </a:xfrm>
          <a:prstGeom prst="rect">
            <a:avLst/>
          </a:prstGeom>
        </p:spPr>
      </p:pic>
      <p:sp>
        <p:nvSpPr>
          <p:cNvPr id="10" name="caption-103"/>
          <p:cNvSpPr txBox="1"/>
          <p:nvPr/>
        </p:nvSpPr>
        <p:spPr>
          <a:xfrm>
            <a:off x="7178040" y="29260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Mipmaps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far floor without moiré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-104"/>
          <p:cNvSpPr/>
          <p:nvPr/>
        </p:nvSpPr>
        <p:spPr>
          <a:xfrm>
            <a:off x="5486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badge-text-105"/>
          <p:cNvSpPr txBox="1"/>
          <p:nvPr/>
        </p:nvSpPr>
        <p:spPr>
          <a:xfrm>
            <a:off x="5486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737360" y="17373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Ray tracing with OptiX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737360" y="26060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OptixRenderer.* on the host, devicePrograms.cu on the GPU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renderer on the host</a:t>
            </a:r>
            <a:endParaRPr lang="en-US" sz="3000" dirty="0"/>
          </a:p>
        </p:txBody>
      </p:sp>
      <p:sp>
        <p:nvSpPr>
          <p:cNvPr id="3" name="badge-106"/>
          <p:cNvSpPr/>
          <p:nvPr/>
        </p:nvSpPr>
        <p:spPr>
          <a:xfrm>
            <a:off x="457200" y="124358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badge-text-107"/>
          <p:cNvSpPr txBox="1"/>
          <p:nvPr/>
        </p:nvSpPr>
        <p:spPr>
          <a:xfrm>
            <a:off x="457200" y="124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init-step-108"/>
          <p:cNvSpPr txBox="1"/>
          <p:nvPr/>
        </p:nvSpPr>
        <p:spPr>
          <a:xfrm>
            <a:off x="960120" y="1188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CUDA primary context</a:t>
            </a:r>
            <a:endParaRPr lang="en-US" sz="1500" dirty="0"/>
          </a:p>
        </p:txBody>
      </p:sp>
      <p:sp>
        <p:nvSpPr>
          <p:cNvPr id="6" name="badge-109"/>
          <p:cNvSpPr/>
          <p:nvPr/>
        </p:nvSpPr>
        <p:spPr>
          <a:xfrm>
            <a:off x="457200" y="186537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badge-text-110"/>
          <p:cNvSpPr txBox="1"/>
          <p:nvPr/>
        </p:nvSpPr>
        <p:spPr>
          <a:xfrm>
            <a:off x="457200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init-step-111"/>
          <p:cNvSpPr txBox="1"/>
          <p:nvPr/>
        </p:nvSpPr>
        <p:spPr>
          <a:xfrm>
            <a:off x="960120" y="18105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OptiX device context</a:t>
            </a:r>
            <a:endParaRPr lang="en-US" sz="1500" dirty="0"/>
          </a:p>
        </p:txBody>
      </p:sp>
      <p:sp>
        <p:nvSpPr>
          <p:cNvPr id="9" name="badge-112"/>
          <p:cNvSpPr/>
          <p:nvPr/>
        </p:nvSpPr>
        <p:spPr>
          <a:xfrm>
            <a:off x="457200" y="24871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adge-text-113"/>
          <p:cNvSpPr txBox="1"/>
          <p:nvPr/>
        </p:nvSpPr>
        <p:spPr>
          <a:xfrm>
            <a:off x="45720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init-step-114"/>
          <p:cNvSpPr txBox="1"/>
          <p:nvPr/>
        </p:nvSpPr>
        <p:spPr>
          <a:xfrm>
            <a:off x="960120" y="24323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Module from embedded OptiX-IR</a:t>
            </a:r>
            <a:endParaRPr lang="en-US" sz="1500" dirty="0"/>
          </a:p>
        </p:txBody>
      </p:sp>
      <p:sp>
        <p:nvSpPr>
          <p:cNvPr id="12" name="badge-115"/>
          <p:cNvSpPr/>
          <p:nvPr/>
        </p:nvSpPr>
        <p:spPr>
          <a:xfrm>
            <a:off x="457200" y="31089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badge-text-116"/>
          <p:cNvSpPr txBox="1"/>
          <p:nvPr/>
        </p:nvSpPr>
        <p:spPr>
          <a:xfrm>
            <a:off x="45720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init-step-117"/>
          <p:cNvSpPr txBox="1"/>
          <p:nvPr/>
        </p:nvSpPr>
        <p:spPr>
          <a:xfrm>
            <a:off x="960120" y="305409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Program groups → pipeline</a:t>
            </a:r>
            <a:endParaRPr lang="en-US" sz="1500" dirty="0"/>
          </a:p>
        </p:txBody>
      </p:sp>
      <p:sp>
        <p:nvSpPr>
          <p:cNvPr id="15" name="badge-118"/>
          <p:cNvSpPr/>
          <p:nvPr/>
        </p:nvSpPr>
        <p:spPr>
          <a:xfrm>
            <a:off x="45720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adge-text-119"/>
          <p:cNvSpPr txBox="1"/>
          <p:nvPr/>
        </p:nvSpPr>
        <p:spPr>
          <a:xfrm>
            <a:off x="45720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init-step-120"/>
          <p:cNvSpPr txBox="1"/>
          <p:nvPr/>
        </p:nvSpPr>
        <p:spPr>
          <a:xfrm>
            <a:off x="960120" y="36758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Shader binding table</a:t>
            </a:r>
            <a:endParaRPr lang="en-US" sz="1500" dirty="0"/>
          </a:p>
        </p:txBody>
      </p:sp>
      <p:sp>
        <p:nvSpPr>
          <p:cNvPr id="18" name="card-121"/>
          <p:cNvSpPr/>
          <p:nvPr/>
        </p:nvSpPr>
        <p:spPr>
          <a:xfrm>
            <a:off x="4389120" y="1188720"/>
            <a:ext cx="4297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head-122"/>
          <p:cNvSpPr txBox="1"/>
          <p:nvPr/>
        </p:nvSpPr>
        <p:spPr>
          <a:xfrm>
            <a:off x="4572000" y="13258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setScene(Scene)</a:t>
            </a:r>
            <a:endParaRPr lang="en-US" sz="1600" dirty="0"/>
          </a:p>
        </p:txBody>
      </p:sp>
      <p:sp>
        <p:nvSpPr>
          <p:cNvPr id="20" name="card-body-123"/>
          <p:cNvSpPr txBox="1"/>
          <p:nvPr/>
        </p:nvSpPr>
        <p:spPr>
          <a:xfrm>
            <a:off x="4572000" y="178308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compacted GAS per mesh (local space)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 IAS places them: instance id = mesh id</a:t>
            </a:r>
            <a:endParaRPr lang="en-US" sz="1400" dirty="0"/>
          </a:p>
        </p:txBody>
      </p:sp>
      <p:sp>
        <p:nvSpPr>
          <p:cNvPr id="21" name="card-124"/>
          <p:cNvSpPr/>
          <p:nvPr/>
        </p:nvSpPr>
        <p:spPr>
          <a:xfrm>
            <a:off x="4389120" y="2697480"/>
            <a:ext cx="42976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ard-head-125"/>
          <p:cNvSpPr txBox="1"/>
          <p:nvPr/>
        </p:nvSpPr>
        <p:spPr>
          <a:xfrm>
            <a:off x="4572000" y="283464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render()</a:t>
            </a:r>
            <a:endParaRPr lang="en-US" sz="1600" dirty="0"/>
          </a:p>
        </p:txBody>
      </p:sp>
      <p:sp>
        <p:nvSpPr>
          <p:cNvPr id="23" name="card-body-126"/>
          <p:cNvSpPr txBox="1"/>
          <p:nvPr/>
        </p:nvSpPr>
        <p:spPr>
          <a:xfrm>
            <a:off x="4572000" y="329184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Uploads LaunchParams, calls optixLaunch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Copies colors back; mesh ids too on frame 0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frameIndex counts samples; resetAccumulation() sets it to 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LaunchParams: the CPU–GPU contract</a:t>
            </a:r>
            <a:endParaRPr lang="en-US" sz="3000" dirty="0"/>
          </a:p>
        </p:txBody>
      </p:sp>
      <p:sp>
        <p:nvSpPr>
          <p:cNvPr id="3" name="code-bg-127"/>
          <p:cNvSpPr/>
          <p:nvPr/>
        </p:nvSpPr>
        <p:spPr>
          <a:xfrm>
            <a:off x="457200" y="1188720"/>
            <a:ext cx="4846320" cy="3291840"/>
          </a:xfrm>
          <a:prstGeom prst="roundRect">
            <a:avLst>
              <a:gd name="adj" fmla="val 1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-128"/>
          <p:cNvSpPr txBox="1"/>
          <p:nvPr/>
        </p:nvSpPr>
        <p:spPr>
          <a:xfrm>
            <a:off x="640080" y="1298448"/>
            <a:ext cx="448056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LaunchParams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uchar4* colorBuffer;   // average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float4* accumBuffer;   // running sums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unsigned* meshIdBuffer;// for picking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width, height, frameIndex;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Camera camera;         // eye, u, v, w,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// ortho, clipping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float3 lightDir;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shadows, mipmaps, ...;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OptixTraversableHandle handle;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MeshData* meshes;// per instance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200" dirty="0"/>
          </a:p>
        </p:txBody>
      </p:sp>
      <p:sp>
        <p:nvSpPr>
          <p:cNvPr id="5" name="card-129"/>
          <p:cNvSpPr/>
          <p:nvPr/>
        </p:nvSpPr>
        <p:spPr>
          <a:xfrm>
            <a:off x="5577840" y="118872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head-130"/>
          <p:cNvSpPr txBox="1"/>
          <p:nvPr/>
        </p:nvSpPr>
        <p:spPr>
          <a:xfrm>
            <a:off x="5760720" y="132588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Rules</a:t>
            </a:r>
            <a:endParaRPr lang="en-US" sz="1600" dirty="0"/>
          </a:p>
        </p:txBody>
      </p:sp>
      <p:sp>
        <p:nvSpPr>
          <p:cNvPr id="7" name="card-body-131"/>
          <p:cNvSpPr txBox="1"/>
          <p:nvPr/>
        </p:nvSpPr>
        <p:spPr>
          <a:xfrm>
            <a:off x="5760720" y="1783080"/>
            <a:ext cx="27889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header, compiled by g++ and nvcc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Change both sides together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camera has no trigonometry on the GPU: ray = w + x·u + y·v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Orthographic: shift the origin instead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device programs</a:t>
            </a:r>
            <a:endParaRPr lang="en-US" sz="3000" dirty="0"/>
          </a:p>
        </p:txBody>
      </p:sp>
      <p:sp>
        <p:nvSpPr>
          <p:cNvPr id="3" name="prog-132"/>
          <p:cNvSpPr/>
          <p:nvPr/>
        </p:nvSpPr>
        <p:spPr>
          <a:xfrm>
            <a:off x="457200" y="118872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133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-text-134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prog-name-135"/>
          <p:cNvSpPr txBox="1"/>
          <p:nvPr/>
        </p:nvSpPr>
        <p:spPr>
          <a:xfrm>
            <a:off x="1078992" y="13258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raygen</a:t>
            </a:r>
            <a:endParaRPr lang="en-US" sz="1600" dirty="0"/>
          </a:p>
        </p:txBody>
      </p:sp>
      <p:sp>
        <p:nvSpPr>
          <p:cNvPr id="7" name="prog-text-136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Jittered sample per pixel; accumulates; writes mesh id on frame 0</a:t>
            </a:r>
            <a:endParaRPr lang="en-US" sz="1300" dirty="0"/>
          </a:p>
        </p:txBody>
      </p:sp>
      <p:sp>
        <p:nvSpPr>
          <p:cNvPr id="8" name="prog-137"/>
          <p:cNvSpPr/>
          <p:nvPr/>
        </p:nvSpPr>
        <p:spPr>
          <a:xfrm>
            <a:off x="4663440" y="118872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138"/>
          <p:cNvSpPr/>
          <p:nvPr/>
        </p:nvSpPr>
        <p:spPr>
          <a:xfrm>
            <a:off x="48006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adge-text-139"/>
          <p:cNvSpPr txBox="1"/>
          <p:nvPr/>
        </p:nvSpPr>
        <p:spPr>
          <a:xfrm>
            <a:off x="48006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prog-name-140"/>
          <p:cNvSpPr txBox="1"/>
          <p:nvPr/>
        </p:nvSpPr>
        <p:spPr>
          <a:xfrm>
            <a:off x="5285232" y="13258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closest-hit</a:t>
            </a:r>
            <a:endParaRPr lang="en-US" sz="1600" dirty="0"/>
          </a:p>
        </p:txBody>
      </p:sp>
      <p:sp>
        <p:nvSpPr>
          <p:cNvPr id="12" name="prog-text-141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Lambert + GGX, shadow ray, one VNDF glossy bounce, firefly clamp</a:t>
            </a:r>
            <a:endParaRPr lang="en-US" sz="1300" dirty="0"/>
          </a:p>
        </p:txBody>
      </p:sp>
      <p:sp>
        <p:nvSpPr>
          <p:cNvPr id="13" name="prog-142"/>
          <p:cNvSpPr/>
          <p:nvPr/>
        </p:nvSpPr>
        <p:spPr>
          <a:xfrm>
            <a:off x="457200" y="265176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-143"/>
          <p:cNvSpPr/>
          <p:nvPr/>
        </p:nvSpPr>
        <p:spPr>
          <a:xfrm>
            <a:off x="59436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badge-text-144"/>
          <p:cNvSpPr txBox="1"/>
          <p:nvPr/>
        </p:nvSpPr>
        <p:spPr>
          <a:xfrm>
            <a:off x="59436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prog-name-145"/>
          <p:cNvSpPr txBox="1"/>
          <p:nvPr/>
        </p:nvSpPr>
        <p:spPr>
          <a:xfrm>
            <a:off x="1078992" y="27889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any-hit</a:t>
            </a:r>
            <a:endParaRPr lang="en-US" sz="1600" dirty="0"/>
          </a:p>
        </p:txBody>
      </p:sp>
      <p:sp>
        <p:nvSpPr>
          <p:cNvPr id="17" name="prog-text-146"/>
          <p:cNvSpPr txBox="1"/>
          <p:nvPr/>
        </p:nvSpPr>
        <p:spPr>
          <a:xfrm>
            <a:off x="640080" y="3246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Alpha cutout: ignore hits below opacityThreshold</a:t>
            </a:r>
            <a:endParaRPr lang="en-US" sz="1300" dirty="0"/>
          </a:p>
        </p:txBody>
      </p:sp>
      <p:sp>
        <p:nvSpPr>
          <p:cNvPr id="18" name="prog-147"/>
          <p:cNvSpPr/>
          <p:nvPr/>
        </p:nvSpPr>
        <p:spPr>
          <a:xfrm>
            <a:off x="4663440" y="265176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-148"/>
          <p:cNvSpPr/>
          <p:nvPr/>
        </p:nvSpPr>
        <p:spPr>
          <a:xfrm>
            <a:off x="4800600" y="278892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badge-text-149"/>
          <p:cNvSpPr txBox="1"/>
          <p:nvPr/>
        </p:nvSpPr>
        <p:spPr>
          <a:xfrm>
            <a:off x="480060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prog-name-150"/>
          <p:cNvSpPr txBox="1"/>
          <p:nvPr/>
        </p:nvSpPr>
        <p:spPr>
          <a:xfrm>
            <a:off x="5285232" y="27889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 ×2</a:t>
            </a:r>
            <a:endParaRPr lang="en-US" sz="1600" dirty="0"/>
          </a:p>
        </p:txBody>
      </p:sp>
      <p:sp>
        <p:nvSpPr>
          <p:cNvPr id="22" name="prog-text-151"/>
          <p:cNvSpPr txBox="1"/>
          <p:nvPr/>
        </p:nvSpPr>
        <p:spPr>
          <a:xfrm>
            <a:off x="4846320" y="3246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Radiance: gradient sky. Shadow: light is visible</a:t>
            </a:r>
            <a:endParaRPr lang="en-US" sz="1300" dirty="0"/>
          </a:p>
        </p:txBody>
      </p:sp>
      <p:sp>
        <p:nvSpPr>
          <p:cNvPr id="23" name="payload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Payload: rgb, mesh id, depth, rng seed · max trace depth 3 (camera → reflection → shadow)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Progressive rendering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-152"/>
          <p:cNvSpPr/>
          <p:nvPr/>
        </p:nvSpPr>
        <p:spPr>
          <a:xfrm>
            <a:off x="5669280" y="1188720"/>
            <a:ext cx="3017520" cy="329184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head-153"/>
          <p:cNvSpPr txBox="1"/>
          <p:nvPr/>
        </p:nvSpPr>
        <p:spPr>
          <a:xfrm>
            <a:off x="5852160" y="132588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How the app drives it</a:t>
            </a:r>
            <a:endParaRPr lang="en-US" sz="1600" dirty="0"/>
          </a:p>
        </p:txBody>
      </p:sp>
      <p:sp>
        <p:nvSpPr>
          <p:cNvPr id="6" name="card-body-154"/>
          <p:cNvSpPr txBox="1"/>
          <p:nvPr/>
        </p:nvSpPr>
        <p:spPr>
          <a:xfrm>
            <a:off x="5852160" y="1783080"/>
            <a:ext cx="2697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Any change sets m_needsRender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updateCamera() + resetAccumulation()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sample per frame until 256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Frame 0 hits pixel centres, so picking is exact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-155"/>
          <p:cNvSpPr/>
          <p:nvPr/>
        </p:nvSpPr>
        <p:spPr>
          <a:xfrm>
            <a:off x="5486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badge-text-156"/>
          <p:cNvSpPr txBox="1"/>
          <p:nvPr/>
        </p:nvSpPr>
        <p:spPr>
          <a:xfrm>
            <a:off x="5486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737360" y="17373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application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737360" y="26060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App.h / App.cpp: SDL3, Dear ImGui, cameras and picking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One turn of the main loop</a:t>
            </a:r>
            <a:endParaRPr lang="en-US" sz="3000" dirty="0"/>
          </a:p>
        </p:txBody>
      </p:sp>
      <p:sp>
        <p:nvSpPr>
          <p:cNvPr id="3" name="box-157"/>
          <p:cNvSpPr/>
          <p:nvPr/>
        </p:nvSpPr>
        <p:spPr>
          <a:xfrm>
            <a:off x="457200" y="1234440"/>
            <a:ext cx="1517904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ox-text-158"/>
          <p:cNvSpPr txBox="1"/>
          <p:nvPr/>
        </p:nvSpPr>
        <p:spPr>
          <a:xfrm>
            <a:off x="530352" y="1234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Events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SDL events, drops</a:t>
            </a:r>
            <a:endParaRPr lang="en-US" sz="1400" dirty="0"/>
          </a:p>
        </p:txBody>
      </p:sp>
      <p:sp>
        <p:nvSpPr>
          <p:cNvPr id="5" name="arrow-159"/>
          <p:cNvSpPr/>
          <p:nvPr/>
        </p:nvSpPr>
        <p:spPr>
          <a:xfrm>
            <a:off x="1975104" y="1783080"/>
            <a:ext cx="18288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6" name="box-160"/>
          <p:cNvSpPr/>
          <p:nvPr/>
        </p:nvSpPr>
        <p:spPr>
          <a:xfrm>
            <a:off x="2157984" y="1234440"/>
            <a:ext cx="1517904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box-text-161"/>
          <p:cNvSpPr txBox="1"/>
          <p:nvPr/>
        </p:nvSpPr>
        <p:spPr>
          <a:xfrm>
            <a:off x="2231136" y="1234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Open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pending file, loaded off the dialog thread</a:t>
            </a:r>
            <a:endParaRPr lang="en-US" sz="1400" dirty="0"/>
          </a:p>
        </p:txBody>
      </p:sp>
      <p:sp>
        <p:nvSpPr>
          <p:cNvPr id="8" name="arrow-162"/>
          <p:cNvSpPr/>
          <p:nvPr/>
        </p:nvSpPr>
        <p:spPr>
          <a:xfrm>
            <a:off x="3675888" y="1783080"/>
            <a:ext cx="18288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box-163"/>
          <p:cNvSpPr/>
          <p:nvPr/>
        </p:nvSpPr>
        <p:spPr>
          <a:xfrm>
            <a:off x="3858768" y="1234440"/>
            <a:ext cx="1517904" cy="1097280"/>
          </a:xfrm>
          <a:prstGeom prst="roundRect">
            <a:avLst>
              <a:gd name="adj" fmla="val 6667"/>
            </a:avLst>
          </a:prstGeom>
          <a:solidFill>
            <a:srgbClr val="76B900"/>
          </a:solidFill>
          <a:ln w="12700">
            <a:solidFill>
              <a:srgbClr val="76B900"/>
            </a:solidFill>
            <a:prstDash val="solid"/>
          </a:ln>
        </p:spPr>
      </p:sp>
      <p:sp>
        <p:nvSpPr>
          <p:cNvPr id="10" name="box-text-164"/>
          <p:cNvSpPr txBox="1"/>
          <p:nvPr/>
        </p:nvSpPr>
        <p:spPr>
          <a:xfrm>
            <a:off x="3931920" y="1234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XR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headset frame, when a session runs</a:t>
            </a:r>
            <a:endParaRPr lang="en-US" sz="1400" dirty="0"/>
          </a:p>
        </p:txBody>
      </p:sp>
      <p:sp>
        <p:nvSpPr>
          <p:cNvPr id="11" name="arrow-165"/>
          <p:cNvSpPr/>
          <p:nvPr/>
        </p:nvSpPr>
        <p:spPr>
          <a:xfrm>
            <a:off x="5376672" y="1783080"/>
            <a:ext cx="18288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box-166"/>
          <p:cNvSpPr/>
          <p:nvPr/>
        </p:nvSpPr>
        <p:spPr>
          <a:xfrm>
            <a:off x="5559552" y="1234440"/>
            <a:ext cx="1517904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ox-text-167"/>
          <p:cNvSpPr txBox="1"/>
          <p:nvPr/>
        </p:nvSpPr>
        <p:spPr>
          <a:xfrm>
            <a:off x="5632704" y="1234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menus and four panels</a:t>
            </a:r>
            <a:endParaRPr lang="en-US" sz="1400" dirty="0"/>
          </a:p>
        </p:txBody>
      </p:sp>
      <p:sp>
        <p:nvSpPr>
          <p:cNvPr id="14" name="arrow-168"/>
          <p:cNvSpPr/>
          <p:nvPr/>
        </p:nvSpPr>
        <p:spPr>
          <a:xfrm>
            <a:off x="7077456" y="1783080"/>
            <a:ext cx="18288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5" name="box-169"/>
          <p:cNvSpPr/>
          <p:nvPr/>
        </p:nvSpPr>
        <p:spPr>
          <a:xfrm>
            <a:off x="7260336" y="1234440"/>
            <a:ext cx="1517904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ox-text-170"/>
          <p:cNvSpPr txBox="1"/>
          <p:nvPr/>
        </p:nvSpPr>
        <p:spPr>
          <a:xfrm>
            <a:off x="7333488" y="1234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Present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SDL_Renderer, vsync</a:t>
            </a:r>
            <a:endParaRPr lang="en-US" sz="1400" dirty="0"/>
          </a:p>
        </p:txBody>
      </p:sp>
      <p:sp>
        <p:nvSpPr>
          <p:cNvPr id="17" name="card-171"/>
          <p:cNvSpPr/>
          <p:nvPr/>
        </p:nvSpPr>
        <p:spPr>
          <a:xfrm>
            <a:off x="457200" y="2651760"/>
            <a:ext cx="40233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card-head-172"/>
          <p:cNvSpPr txBox="1"/>
          <p:nvPr/>
        </p:nvSpPr>
        <p:spPr>
          <a:xfrm>
            <a:off x="640080" y="27889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Panels</a:t>
            </a:r>
            <a:endParaRPr lang="en-US" sz="1600" dirty="0"/>
          </a:p>
        </p:txBody>
      </p:sp>
      <p:sp>
        <p:nvSpPr>
          <p:cNvPr id="19" name="card-body-173"/>
          <p:cNvSpPr txBox="1"/>
          <p:nvPr/>
        </p:nvSpPr>
        <p:spPr>
          <a:xfrm>
            <a:off x="640080" y="324612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Hierarchy: tree with name filter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Inspector: prim, camera, material, properties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Viewport: image, mouse, picking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Status bar: counts, camera, samples, XR</a:t>
            </a:r>
            <a:endParaRPr lang="en-US" sz="1400" dirty="0"/>
          </a:p>
        </p:txBody>
      </p:sp>
      <p:sp>
        <p:nvSpPr>
          <p:cNvPr id="20" name="card-174"/>
          <p:cNvSpPr/>
          <p:nvPr/>
        </p:nvSpPr>
        <p:spPr>
          <a:xfrm>
            <a:off x="4663440" y="2651760"/>
            <a:ext cx="40233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ard-head-175"/>
          <p:cNvSpPr txBox="1"/>
          <p:nvPr/>
        </p:nvSpPr>
        <p:spPr>
          <a:xfrm>
            <a:off x="4846320" y="27889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Immediate mode</a:t>
            </a:r>
            <a:endParaRPr lang="en-US" sz="1600" dirty="0"/>
          </a:p>
        </p:txBody>
      </p:sp>
      <p:sp>
        <p:nvSpPr>
          <p:cNvPr id="22" name="card-body-176"/>
          <p:cNvSpPr txBox="1"/>
          <p:nvPr/>
        </p:nvSpPr>
        <p:spPr>
          <a:xfrm>
            <a:off x="4846320" y="324612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widget objects: drawUi() describes the whole UI each frame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State lives in plain App members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Tests drive the UI from command-line flags, not the mouse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Two kinds of camera</a:t>
            </a:r>
            <a:endParaRPr lang="en-US" sz="3000" dirty="0"/>
          </a:p>
        </p:txBody>
      </p:sp>
      <p:sp>
        <p:nvSpPr>
          <p:cNvPr id="3" name="card-177"/>
          <p:cNvSpPr/>
          <p:nvPr/>
        </p:nvSpPr>
        <p:spPr>
          <a:xfrm>
            <a:off x="457200" y="1188720"/>
            <a:ext cx="39776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178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-text-179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</a:t>
            </a:r>
            <a:endParaRPr lang="en-US" sz="1400" dirty="0"/>
          </a:p>
        </p:txBody>
      </p:sp>
      <p:sp>
        <p:nvSpPr>
          <p:cNvPr id="6" name="card-head-180"/>
          <p:cNvSpPr txBox="1"/>
          <p:nvPr/>
        </p:nvSpPr>
        <p:spPr>
          <a:xfrm>
            <a:off x="1078992" y="1325880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Orbit camera</a:t>
            </a:r>
            <a:endParaRPr lang="en-US" sz="1600" dirty="0"/>
          </a:p>
        </p:txBody>
      </p:sp>
      <p:sp>
        <p:nvSpPr>
          <p:cNvPr id="7" name="card-body-181"/>
          <p:cNvSpPr txBox="1"/>
          <p:nvPr/>
        </p:nvSpPr>
        <p:spPr>
          <a:xfrm>
            <a:off x="640080" y="178308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Target, distance, yaw, pitch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Follows the stage's up axis (Y or Z)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Left drag orbits, right/middle pans, wheel zooms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Framing: d = r / sin(φ/2) + 15%</a:t>
            </a:r>
            <a:endParaRPr lang="en-US" sz="1400" dirty="0"/>
          </a:p>
        </p:txBody>
      </p:sp>
      <p:sp>
        <p:nvSpPr>
          <p:cNvPr id="8" name="card-182"/>
          <p:cNvSpPr/>
          <p:nvPr/>
        </p:nvSpPr>
        <p:spPr>
          <a:xfrm>
            <a:off x="4709160" y="1188720"/>
            <a:ext cx="39776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183"/>
          <p:cNvSpPr/>
          <p:nvPr/>
        </p:nvSpPr>
        <p:spPr>
          <a:xfrm>
            <a:off x="484632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adge-text-184"/>
          <p:cNvSpPr txBox="1"/>
          <p:nvPr/>
        </p:nvSpPr>
        <p:spPr>
          <a:xfrm>
            <a:off x="48463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</a:t>
            </a:r>
            <a:endParaRPr lang="en-US" sz="1400" dirty="0"/>
          </a:p>
        </p:txBody>
      </p:sp>
      <p:sp>
        <p:nvSpPr>
          <p:cNvPr id="11" name="card-head-185"/>
          <p:cNvSpPr txBox="1"/>
          <p:nvPr/>
        </p:nvSpPr>
        <p:spPr>
          <a:xfrm>
            <a:off x="5330952" y="1325880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USD cameras</a:t>
            </a:r>
            <a:endParaRPr lang="en-US" sz="1600" dirty="0"/>
          </a:p>
        </p:txBody>
      </p:sp>
      <p:sp>
        <p:nvSpPr>
          <p:cNvPr id="12" name="card-body-186"/>
          <p:cNvSpPr txBox="1"/>
          <p:nvPr/>
        </p:nvSpPr>
        <p:spPr>
          <a:xfrm>
            <a:off x="4892040" y="178308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GfCamera → GfFrustum at the start time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Perspective or orthographic, clipping range as depth along w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Film back fitted inside the viewport (usdview's "fit")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Moving the view hands off to the orbit camera without a jump</a:t>
            </a:r>
            <a:endParaRPr lang="en-US" sz="1400" dirty="0"/>
          </a:p>
        </p:txBody>
      </p:sp>
      <p:sp>
        <p:nvSpPr>
          <p:cNvPr id="13" name="camera-test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Test scene: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assets/camera_test.usda has five cameras: Front, Telephoto, orthographic Top, Clipped and a scaled Rig/Side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Looking through USD cameras</a:t>
            </a:r>
            <a:endParaRPr lang="en-US" sz="3000" dirty="0"/>
          </a:p>
        </p:txBody>
      </p:sp>
      <p:pic>
        <p:nvPicPr>
          <p:cNvPr id="3" name="shot-187" descr="Front view: cube left, sphere, pyramid 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560320" cy="2560320"/>
          </a:xfrm>
          <a:prstGeom prst="rect">
            <a:avLst/>
          </a:prstGeom>
        </p:spPr>
      </p:pic>
      <p:sp>
        <p:nvSpPr>
          <p:cNvPr id="4" name="caption-188"/>
          <p:cNvSpPr txBox="1"/>
          <p:nvPr/>
        </p:nvSpPr>
        <p:spPr>
          <a:xfrm>
            <a:off x="457200" y="37490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Front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perspective, 35 mm lens</a:t>
            </a:r>
            <a:endParaRPr lang="en-US" sz="1400" dirty="0"/>
          </a:p>
        </p:txBody>
      </p:sp>
      <p:pic>
        <p:nvPicPr>
          <p:cNvPr id="5" name="shot-189" descr="Straight-down orthographic view of the ground and objec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097280"/>
            <a:ext cx="2560320" cy="2560320"/>
          </a:xfrm>
          <a:prstGeom prst="rect">
            <a:avLst/>
          </a:prstGeom>
        </p:spPr>
      </p:pic>
      <p:sp>
        <p:nvSpPr>
          <p:cNvPr id="6" name="caption-190"/>
          <p:cNvSpPr txBox="1"/>
          <p:nvPr/>
        </p:nvSpPr>
        <p:spPr>
          <a:xfrm>
            <a:off x="3291840" y="37490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Top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orthographic, 14 × 14 units</a:t>
            </a:r>
            <a:endParaRPr lang="en-US" sz="1400" dirty="0"/>
          </a:p>
        </p:txBody>
      </p:sp>
      <p:pic>
        <p:nvPicPr>
          <p:cNvPr id="7" name="shot-191" descr="The front view with the near half clipped aw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2560320" cy="2560320"/>
          </a:xfrm>
          <a:prstGeom prst="rect">
            <a:avLst/>
          </a:prstGeom>
        </p:spPr>
      </p:pic>
      <p:sp>
        <p:nvSpPr>
          <p:cNvPr id="8" name="caption-192"/>
          <p:cNvSpPr txBox="1"/>
          <p:nvPr/>
        </p:nvSpPr>
        <p:spPr>
          <a:xfrm>
            <a:off x="6126480" y="37490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Clipped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near plane at 10.4 cuts the scene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-193"/>
          <p:cNvSpPr/>
          <p:nvPr/>
        </p:nvSpPr>
        <p:spPr>
          <a:xfrm>
            <a:off x="5486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badge-text-194"/>
          <p:cNvSpPr txBox="1"/>
          <p:nvPr/>
        </p:nvSpPr>
        <p:spPr>
          <a:xfrm>
            <a:off x="5486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737360" y="17373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XR output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737360" y="26060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XrOutput.* and CloudXrService.*: OpenXR through CloudXR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From OptiX to the headset</a:t>
            </a:r>
            <a:endParaRPr lang="en-US" sz="3000" dirty="0"/>
          </a:p>
        </p:txBody>
      </p:sp>
      <p:sp>
        <p:nvSpPr>
          <p:cNvPr id="3" name="box-195"/>
          <p:cNvSpPr/>
          <p:nvPr/>
        </p:nvSpPr>
        <p:spPr>
          <a:xfrm>
            <a:off x="457200" y="13258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box-text-196"/>
          <p:cNvSpPr txBox="1"/>
          <p:nvPr/>
        </p:nvSpPr>
        <p:spPr>
          <a:xfrm>
            <a:off x="530352" y="132588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OptiX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renderView()</a:t>
            </a:r>
            <a:endParaRPr lang="en-US" sz="1400" dirty="0"/>
          </a:p>
        </p:txBody>
      </p:sp>
      <p:sp>
        <p:nvSpPr>
          <p:cNvPr id="5" name="box-197"/>
          <p:cNvSpPr/>
          <p:nvPr/>
        </p:nvSpPr>
        <p:spPr>
          <a:xfrm>
            <a:off x="2194560" y="132588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box-text-198"/>
          <p:cNvSpPr txBox="1"/>
          <p:nvPr/>
        </p:nvSpPr>
        <p:spPr>
          <a:xfrm>
            <a:off x="2267712" y="132588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Shared buffer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Vulkan memory, CUDA view</a:t>
            </a:r>
            <a:endParaRPr lang="en-US" sz="1400" dirty="0"/>
          </a:p>
        </p:txBody>
      </p:sp>
      <p:sp>
        <p:nvSpPr>
          <p:cNvPr id="7" name="box-199"/>
          <p:cNvSpPr/>
          <p:nvPr/>
        </p:nvSpPr>
        <p:spPr>
          <a:xfrm>
            <a:off x="4069080" y="13258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box-text-200"/>
          <p:cNvSpPr txBox="1"/>
          <p:nvPr/>
        </p:nvSpPr>
        <p:spPr>
          <a:xfrm>
            <a:off x="4142232" y="132588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Swapchain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copy on Vulkan queue</a:t>
            </a:r>
            <a:endParaRPr lang="en-US" sz="1400" dirty="0"/>
          </a:p>
        </p:txBody>
      </p:sp>
      <p:sp>
        <p:nvSpPr>
          <p:cNvPr id="9" name="box-201"/>
          <p:cNvSpPr/>
          <p:nvPr/>
        </p:nvSpPr>
        <p:spPr>
          <a:xfrm>
            <a:off x="5806440" y="132588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box-text-202"/>
          <p:cNvSpPr txBox="1"/>
          <p:nvPr/>
        </p:nvSpPr>
        <p:spPr>
          <a:xfrm>
            <a:off x="5879592" y="1325880"/>
            <a:ext cx="1225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CloudXR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OpenXR runtime</a:t>
            </a:r>
            <a:endParaRPr lang="en-US" sz="1400" dirty="0"/>
          </a:p>
        </p:txBody>
      </p:sp>
      <p:sp>
        <p:nvSpPr>
          <p:cNvPr id="11" name="box-203"/>
          <p:cNvSpPr/>
          <p:nvPr/>
        </p:nvSpPr>
        <p:spPr>
          <a:xfrm>
            <a:off x="7452360" y="1325880"/>
            <a:ext cx="12344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box-text-204"/>
          <p:cNvSpPr txBox="1"/>
          <p:nvPr/>
        </p:nvSpPr>
        <p:spPr>
          <a:xfrm>
            <a:off x="7525512" y="1325880"/>
            <a:ext cx="1088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Headset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Vision Pro, Quest</a:t>
            </a:r>
            <a:endParaRPr lang="en-US" sz="1400" dirty="0"/>
          </a:p>
        </p:txBody>
      </p:sp>
      <p:sp>
        <p:nvSpPr>
          <p:cNvPr id="13" name="arrow-205"/>
          <p:cNvSpPr/>
          <p:nvPr/>
        </p:nvSpPr>
        <p:spPr>
          <a:xfrm>
            <a:off x="1920240" y="1783080"/>
            <a:ext cx="27432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arrow-206"/>
          <p:cNvSpPr/>
          <p:nvPr/>
        </p:nvSpPr>
        <p:spPr>
          <a:xfrm>
            <a:off x="3794760" y="1783080"/>
            <a:ext cx="27432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5" name="arrow-207"/>
          <p:cNvSpPr/>
          <p:nvPr/>
        </p:nvSpPr>
        <p:spPr>
          <a:xfrm>
            <a:off x="5532120" y="1783080"/>
            <a:ext cx="27432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arrow-208"/>
          <p:cNvSpPr/>
          <p:nvPr/>
        </p:nvSpPr>
        <p:spPr>
          <a:xfrm>
            <a:off x="7178040" y="1783080"/>
            <a:ext cx="27432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7" name="xr-stat-209"/>
          <p:cNvSpPr txBox="1"/>
          <p:nvPr/>
        </p:nvSpPr>
        <p:spPr>
          <a:xfrm>
            <a:off x="457200" y="26060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2400×1920</a:t>
            </a:r>
            <a:endParaRPr lang="en-US" sz="3000" dirty="0"/>
          </a:p>
        </p:txBody>
      </p:sp>
      <p:sp>
        <p:nvSpPr>
          <p:cNvPr id="18" name="xr-label-210"/>
          <p:cNvSpPr txBox="1"/>
          <p:nvPr/>
        </p:nvSpPr>
        <p:spPr>
          <a:xfrm>
            <a:off x="45720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eye images (Vision Pro profile)</a:t>
            </a:r>
            <a:endParaRPr lang="en-US" sz="1300" dirty="0"/>
          </a:p>
        </p:txBody>
      </p:sp>
      <p:sp>
        <p:nvSpPr>
          <p:cNvPr id="19" name="xr-stat-211"/>
          <p:cNvSpPr txBox="1"/>
          <p:nvPr/>
        </p:nvSpPr>
        <p:spPr>
          <a:xfrm>
            <a:off x="3291840" y="26060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 ms</a:t>
            </a:r>
            <a:endParaRPr lang="en-US" sz="3000" dirty="0"/>
          </a:p>
        </p:txBody>
      </p:sp>
      <p:sp>
        <p:nvSpPr>
          <p:cNvPr id="20" name="xr-label-212"/>
          <p:cNvSpPr txBox="1"/>
          <p:nvPr/>
        </p:nvSpPr>
        <p:spPr>
          <a:xfrm>
            <a:off x="329184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 frame, both eyes, 1 sample</a:t>
            </a:r>
            <a:endParaRPr lang="en-US" sz="1300" dirty="0"/>
          </a:p>
        </p:txBody>
      </p:sp>
      <p:sp>
        <p:nvSpPr>
          <p:cNvPr id="21" name="xr-stat-213"/>
          <p:cNvSpPr txBox="1"/>
          <p:nvPr/>
        </p:nvSpPr>
        <p:spPr>
          <a:xfrm>
            <a:off x="6126480" y="26060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xr-label-214"/>
          <p:cNvSpPr txBox="1"/>
          <p:nvPr/>
        </p:nvSpPr>
        <p:spPr>
          <a:xfrm>
            <a:off x="612648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copies through main memory</a:t>
            </a:r>
            <a:endParaRPr lang="en-US" sz="1300" dirty="0"/>
          </a:p>
        </p:txBody>
      </p:sp>
      <p:sp>
        <p:nvSpPr>
          <p:cNvPr id="23" name="xr-note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Memory is exported from Vulkan as an opaque fd and imported with cudaImportExternalMemory, so CUDA and the runtime must share one GPU (matched by UUID).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headset view on the desktop</a:t>
            </a:r>
            <a:endParaRPr lang="en-US" sz="3000" dirty="0"/>
          </a:p>
        </p:txBody>
      </p:sp>
      <p:pic>
        <p:nvPicPr>
          <p:cNvPr id="3" name="shot-215" descr="The left eye of the headset: the test scene seen from standing height, with a very wide field of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43400" cy="3474720"/>
          </a:xfrm>
          <a:prstGeom prst="rect">
            <a:avLst/>
          </a:prstGeom>
        </p:spPr>
      </p:pic>
      <p:sp>
        <p:nvSpPr>
          <p:cNvPr id="4" name="card-216"/>
          <p:cNvSpPr/>
          <p:nvPr/>
        </p:nvSpPr>
        <p:spPr>
          <a:xfrm>
            <a:off x="5029200" y="1097280"/>
            <a:ext cx="365760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head-217"/>
          <p:cNvSpPr txBox="1"/>
          <p:nvPr/>
        </p:nvSpPr>
        <p:spPr>
          <a:xfrm>
            <a:off x="5212080" y="12344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--xr-mirror</a:t>
            </a:r>
            <a:endParaRPr lang="en-US" sz="1600" dirty="0"/>
          </a:p>
        </p:txBody>
      </p:sp>
      <p:sp>
        <p:nvSpPr>
          <p:cNvPr id="6" name="card-body-218"/>
          <p:cNvSpPr txBox="1"/>
          <p:nvPr/>
        </p:nvSpPr>
        <p:spPr>
          <a:xfrm>
            <a:off x="5212080" y="1691640"/>
            <a:ext cx="33375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left eye, copied back from the shared buffer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CloudXR 6.2.1 in-process, Vision Pro profile, no headset attached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Head placed at the Front camera's eye, (0, 3, 10)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 samples per pixel: 4.8 ms per frame for both eyes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XR session, step by step</a:t>
            </a:r>
            <a:endParaRPr lang="en-US" sz="3000" dirty="0"/>
          </a:p>
        </p:txBody>
      </p:sp>
      <p:sp>
        <p:nvSpPr>
          <p:cNvPr id="3" name="box-219"/>
          <p:cNvSpPr/>
          <p:nvPr/>
        </p:nvSpPr>
        <p:spPr>
          <a:xfrm>
            <a:off x="457200" y="1188720"/>
            <a:ext cx="1517904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ox-text-220"/>
          <p:cNvSpPr txBox="1"/>
          <p:nvPr/>
        </p:nvSpPr>
        <p:spPr>
          <a:xfrm>
            <a:off x="530352" y="11887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</a:t>
            </a:r>
            <a:endParaRPr lang="en-US" sz="1400" dirty="0"/>
          </a:p>
        </p:txBody>
      </p:sp>
      <p:sp>
        <p:nvSpPr>
          <p:cNvPr id="5" name="arrow-221"/>
          <p:cNvSpPr/>
          <p:nvPr/>
        </p:nvSpPr>
        <p:spPr>
          <a:xfrm>
            <a:off x="1975104" y="1531620"/>
            <a:ext cx="18288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6" name="box-222"/>
          <p:cNvSpPr/>
          <p:nvPr/>
        </p:nvSpPr>
        <p:spPr>
          <a:xfrm>
            <a:off x="2157984" y="1188720"/>
            <a:ext cx="1517904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box-text-223"/>
          <p:cNvSpPr txBox="1"/>
          <p:nvPr/>
        </p:nvSpPr>
        <p:spPr>
          <a:xfrm>
            <a:off x="2231136" y="11887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Waiting</a:t>
            </a:r>
            <a:endParaRPr lang="en-US" sz="1400" dirty="0"/>
          </a:p>
        </p:txBody>
      </p:sp>
      <p:sp>
        <p:nvSpPr>
          <p:cNvPr id="8" name="arrow-224"/>
          <p:cNvSpPr/>
          <p:nvPr/>
        </p:nvSpPr>
        <p:spPr>
          <a:xfrm>
            <a:off x="3675888" y="1531620"/>
            <a:ext cx="18288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box-225"/>
          <p:cNvSpPr/>
          <p:nvPr/>
        </p:nvSpPr>
        <p:spPr>
          <a:xfrm>
            <a:off x="3858768" y="1188720"/>
            <a:ext cx="1517904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ox-text-226"/>
          <p:cNvSpPr txBox="1"/>
          <p:nvPr/>
        </p:nvSpPr>
        <p:spPr>
          <a:xfrm>
            <a:off x="3931920" y="11887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SystemReady</a:t>
            </a:r>
            <a:endParaRPr lang="en-US" sz="1400" dirty="0"/>
          </a:p>
        </p:txBody>
      </p:sp>
      <p:sp>
        <p:nvSpPr>
          <p:cNvPr id="11" name="arrow-227"/>
          <p:cNvSpPr/>
          <p:nvPr/>
        </p:nvSpPr>
        <p:spPr>
          <a:xfrm>
            <a:off x="5376672" y="1531620"/>
            <a:ext cx="18288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box-228"/>
          <p:cNvSpPr/>
          <p:nvPr/>
        </p:nvSpPr>
        <p:spPr>
          <a:xfrm>
            <a:off x="5559552" y="1188720"/>
            <a:ext cx="1517904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ox-text-229"/>
          <p:cNvSpPr txBox="1"/>
          <p:nvPr/>
        </p:nvSpPr>
        <p:spPr>
          <a:xfrm>
            <a:off x="5632704" y="11887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Idle</a:t>
            </a:r>
            <a:endParaRPr lang="en-US" sz="1400" dirty="0"/>
          </a:p>
        </p:txBody>
      </p:sp>
      <p:sp>
        <p:nvSpPr>
          <p:cNvPr id="14" name="arrow-230"/>
          <p:cNvSpPr/>
          <p:nvPr/>
        </p:nvSpPr>
        <p:spPr>
          <a:xfrm>
            <a:off x="7077456" y="1531620"/>
            <a:ext cx="18288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5" name="box-231"/>
          <p:cNvSpPr/>
          <p:nvPr/>
        </p:nvSpPr>
        <p:spPr>
          <a:xfrm>
            <a:off x="7260336" y="1188720"/>
            <a:ext cx="1517904" cy="685800"/>
          </a:xfrm>
          <a:prstGeom prst="roundRect">
            <a:avLst>
              <a:gd name="adj" fmla="val 10667"/>
            </a:avLst>
          </a:prstGeom>
          <a:solidFill>
            <a:srgbClr val="76B900"/>
          </a:solidFill>
          <a:ln w="12700">
            <a:solidFill>
              <a:srgbClr val="76B900"/>
            </a:solidFill>
            <a:prstDash val="solid"/>
          </a:ln>
        </p:spPr>
      </p:sp>
      <p:sp>
        <p:nvSpPr>
          <p:cNvPr id="16" name="box-text-232"/>
          <p:cNvSpPr txBox="1"/>
          <p:nvPr/>
        </p:nvSpPr>
        <p:spPr>
          <a:xfrm>
            <a:off x="7333488" y="11887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Running</a:t>
            </a:r>
            <a:endParaRPr lang="en-US" sz="1400" dirty="0"/>
          </a:p>
        </p:txBody>
      </p:sp>
      <p:sp>
        <p:nvSpPr>
          <p:cNvPr id="17" name="card-233"/>
          <p:cNvSpPr/>
          <p:nvPr/>
        </p:nvSpPr>
        <p:spPr>
          <a:xfrm>
            <a:off x="457200" y="214884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card-head-234"/>
          <p:cNvSpPr txBox="1"/>
          <p:nvPr/>
        </p:nvSpPr>
        <p:spPr>
          <a:xfrm>
            <a:off x="640080" y="22860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happens</a:t>
            </a:r>
            <a:endParaRPr lang="en-US" sz="1600" dirty="0"/>
          </a:p>
        </p:txBody>
      </p:sp>
      <p:sp>
        <p:nvSpPr>
          <p:cNvPr id="19" name="card-body-235"/>
          <p:cNvSpPr txBox="1"/>
          <p:nvPr/>
        </p:nvSpPr>
        <p:spPr>
          <a:xfrm>
            <a:off x="64008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Waiting: xrGetSystem retried; auto profiles wait for a client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SystemReady: renderer moves to the runtime's GPU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Running: xrWaitFrame paces the loop; vsync off</a:t>
            </a:r>
            <a:endParaRPr lang="en-US" sz="1400" dirty="0"/>
          </a:p>
        </p:txBody>
      </p:sp>
      <p:sp>
        <p:nvSpPr>
          <p:cNvPr id="20" name="card-236"/>
          <p:cNvSpPr/>
          <p:nvPr/>
        </p:nvSpPr>
        <p:spPr>
          <a:xfrm>
            <a:off x="4663440" y="214884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ard-head-237"/>
          <p:cNvSpPr txBox="1"/>
          <p:nvPr/>
        </p:nvSpPr>
        <p:spPr>
          <a:xfrm>
            <a:off x="4846320" y="22860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Where the user stands</a:t>
            </a:r>
            <a:endParaRPr lang="en-US" sz="1600" dirty="0"/>
          </a:p>
        </p:txBody>
      </p:sp>
      <p:sp>
        <p:nvSpPr>
          <p:cNvPr id="22" name="card-body-238"/>
          <p:cNvSpPr txBox="1"/>
          <p:nvPr/>
        </p:nvSpPr>
        <p:spPr>
          <a:xfrm>
            <a:off x="484632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XR origin at the desktop camera's eye, facing its horizontal direction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 m of head motion = 1/metersPerUnit units × world scale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Asymmetric eye frusta: w aims at the window centre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Connecting an Apple Vision Pro</a:t>
            </a:r>
            <a:endParaRPr lang="en-US" sz="3000" dirty="0"/>
          </a:p>
        </p:txBody>
      </p:sp>
      <p:sp>
        <p:nvSpPr>
          <p:cNvPr id="3" name="box-239"/>
          <p:cNvSpPr/>
          <p:nvPr/>
        </p:nvSpPr>
        <p:spPr>
          <a:xfrm>
            <a:off x="457200" y="12344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ox-text-240"/>
          <p:cNvSpPr txBox="1"/>
          <p:nvPr/>
        </p:nvSpPr>
        <p:spPr>
          <a:xfrm>
            <a:off x="530352" y="12344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Vision Pro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CloudXRViewer</a:t>
            </a:r>
            <a:endParaRPr lang="en-US" sz="1400" dirty="0"/>
          </a:p>
        </p:txBody>
      </p:sp>
      <p:sp>
        <p:nvSpPr>
          <p:cNvPr id="5" name="box-241"/>
          <p:cNvSpPr/>
          <p:nvPr/>
        </p:nvSpPr>
        <p:spPr>
          <a:xfrm>
            <a:off x="2514600" y="12344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box-text-242"/>
          <p:cNvSpPr txBox="1"/>
          <p:nvPr/>
        </p:nvSpPr>
        <p:spPr>
          <a:xfrm>
            <a:off x="2587752" y="12344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stunnel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TLS on :48322</a:t>
            </a:r>
            <a:endParaRPr lang="en-US" sz="1400" dirty="0"/>
          </a:p>
        </p:txBody>
      </p:sp>
      <p:sp>
        <p:nvSpPr>
          <p:cNvPr id="7" name="box-243"/>
          <p:cNvSpPr/>
          <p:nvPr/>
        </p:nvSpPr>
        <p:spPr>
          <a:xfrm>
            <a:off x="457200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box-text-244"/>
          <p:cNvSpPr txBox="1"/>
          <p:nvPr/>
        </p:nvSpPr>
        <p:spPr>
          <a:xfrm>
            <a:off x="4645152" y="1234440"/>
            <a:ext cx="16824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CloudXR runtime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127.0.0.1:48324</a:t>
            </a:r>
            <a:endParaRPr lang="en-US" sz="1400" dirty="0"/>
          </a:p>
        </p:txBody>
      </p:sp>
      <p:sp>
        <p:nvSpPr>
          <p:cNvPr id="9" name="box-245"/>
          <p:cNvSpPr/>
          <p:nvPr/>
        </p:nvSpPr>
        <p:spPr>
          <a:xfrm>
            <a:off x="685800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ox-text-246"/>
          <p:cNvSpPr txBox="1"/>
          <p:nvPr/>
        </p:nvSpPr>
        <p:spPr>
          <a:xfrm>
            <a:off x="6931152" y="1234440"/>
            <a:ext cx="16824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UsdOptixViewer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--cloudxr</a:t>
            </a:r>
            <a:endParaRPr lang="en-US" sz="1400" dirty="0"/>
          </a:p>
        </p:txBody>
      </p:sp>
      <p:sp>
        <p:nvSpPr>
          <p:cNvPr id="11" name="arrow-247"/>
          <p:cNvSpPr/>
          <p:nvPr/>
        </p:nvSpPr>
        <p:spPr>
          <a:xfrm>
            <a:off x="2057400" y="1691640"/>
            <a:ext cx="45720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arrow-248"/>
          <p:cNvSpPr/>
          <p:nvPr/>
        </p:nvSpPr>
        <p:spPr>
          <a:xfrm>
            <a:off x="4114800" y="1691640"/>
            <a:ext cx="45720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3" name="arrow-249"/>
          <p:cNvSpPr/>
          <p:nvPr/>
        </p:nvSpPr>
        <p:spPr>
          <a:xfrm>
            <a:off x="6400800" y="1691640"/>
            <a:ext cx="457200" cy="0"/>
          </a:xfrm>
          <a:prstGeom prst="line">
            <a:avLst/>
          </a:prstGeom>
          <a:noFill/>
          <a:ln w="25400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card-250"/>
          <p:cNvSpPr/>
          <p:nvPr/>
        </p:nvSpPr>
        <p:spPr>
          <a:xfrm>
            <a:off x="457200" y="2468880"/>
            <a:ext cx="46634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head-251"/>
          <p:cNvSpPr txBox="1"/>
          <p:nvPr/>
        </p:nvSpPr>
        <p:spPr>
          <a:xfrm>
            <a:off x="640080" y="26060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Steps</a:t>
            </a:r>
            <a:endParaRPr lang="en-US" sz="1600" dirty="0"/>
          </a:p>
        </p:txBody>
      </p:sp>
      <p:sp>
        <p:nvSpPr>
          <p:cNvPr id="16" name="card-body-252"/>
          <p:cNvSpPr txBox="1"/>
          <p:nvPr/>
        </p:nvSpPr>
        <p:spPr>
          <a:xfrm>
            <a:off x="640080" y="3063240"/>
            <a:ext cx="4343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 root, once per boot: ufw rules, start stunnel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Run the viewer with NV_CXR_SERVER_PORT=48324 --cloudxr --cloudxr-profile apple-vision-pro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 the headset: Manual IP Address 157.253.113.156, Connect</a:t>
            </a:r>
            <a:endParaRPr lang="en-US" sz="1300" dirty="0"/>
          </a:p>
        </p:txBody>
      </p:sp>
      <p:sp>
        <p:nvSpPr>
          <p:cNvPr id="17" name="card-253"/>
          <p:cNvSpPr/>
          <p:nvPr/>
        </p:nvSpPr>
        <p:spPr>
          <a:xfrm>
            <a:off x="5394960" y="246888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card-head-254"/>
          <p:cNvSpPr txBox="1"/>
          <p:nvPr/>
        </p:nvSpPr>
        <p:spPr>
          <a:xfrm>
            <a:off x="5577840" y="26060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XR menu</a:t>
            </a:r>
            <a:endParaRPr lang="en-US" sz="1600" dirty="0"/>
          </a:p>
        </p:txBody>
      </p:sp>
      <p:sp>
        <p:nvSpPr>
          <p:cNvPr id="19" name="card-body-255"/>
          <p:cNvSpPr txBox="1"/>
          <p:nvPr/>
        </p:nvSpPr>
        <p:spPr>
          <a:xfrm>
            <a:off x="5577840" y="306324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Shows every interface's IPv4 address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Port read from the service (server-port)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Without stunnel: error 0x800B1004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Build, test and document</a:t>
            </a:r>
            <a:endParaRPr lang="en-US" sz="3000" dirty="0"/>
          </a:p>
        </p:txBody>
      </p:sp>
      <p:sp>
        <p:nvSpPr>
          <p:cNvPr id="3" name="card-256"/>
          <p:cNvSpPr/>
          <p:nvPr/>
        </p:nvSpPr>
        <p:spPr>
          <a:xfrm>
            <a:off x="45720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257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-text-258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endParaRPr lang="en-US" sz="1400" dirty="0"/>
          </a:p>
        </p:txBody>
      </p:sp>
      <p:sp>
        <p:nvSpPr>
          <p:cNvPr id="6" name="card-head-259"/>
          <p:cNvSpPr txBox="1"/>
          <p:nvPr/>
        </p:nvSpPr>
        <p:spPr>
          <a:xfrm>
            <a:off x="1078992" y="132588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Build</a:t>
            </a:r>
            <a:endParaRPr lang="en-US" sz="1600" dirty="0"/>
          </a:p>
        </p:txBody>
      </p:sp>
      <p:sp>
        <p:nvSpPr>
          <p:cNvPr id="7" name="card-body-260"/>
          <p:cNvSpPr txBox="1"/>
          <p:nvPr/>
        </p:nvSpPr>
        <p:spPr>
          <a:xfrm>
            <a:off x="640080" y="178308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CMake 3.28, C++20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OptiX-IR embedded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Tools in /opt/viztools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warnings</a:t>
            </a:r>
            <a:endParaRPr lang="en-US" sz="1400" dirty="0"/>
          </a:p>
        </p:txBody>
      </p:sp>
      <p:sp>
        <p:nvSpPr>
          <p:cNvPr id="8" name="card-261"/>
          <p:cNvSpPr/>
          <p:nvPr/>
        </p:nvSpPr>
        <p:spPr>
          <a:xfrm>
            <a:off x="326898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62"/>
          <p:cNvSpPr/>
          <p:nvPr/>
        </p:nvSpPr>
        <p:spPr>
          <a:xfrm>
            <a:off x="340614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adge-text-263"/>
          <p:cNvSpPr txBox="1"/>
          <p:nvPr/>
        </p:nvSpPr>
        <p:spPr>
          <a:xfrm>
            <a:off x="34061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</a:t>
            </a:r>
            <a:endParaRPr lang="en-US" sz="1400" dirty="0"/>
          </a:p>
        </p:txBody>
      </p:sp>
      <p:sp>
        <p:nvSpPr>
          <p:cNvPr id="11" name="card-head-264"/>
          <p:cNvSpPr txBox="1"/>
          <p:nvPr/>
        </p:nvSpPr>
        <p:spPr>
          <a:xfrm>
            <a:off x="3890772" y="132588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</a:t>
            </a:r>
            <a:endParaRPr lang="en-US" sz="1600" dirty="0"/>
          </a:p>
        </p:txBody>
      </p:sp>
      <p:sp>
        <p:nvSpPr>
          <p:cNvPr id="12" name="card-body-265"/>
          <p:cNvSpPr txBox="1"/>
          <p:nvPr/>
        </p:nvSpPr>
        <p:spPr>
          <a:xfrm>
            <a:off x="3451860" y="178308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test scenes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xwd screenshots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usdchecker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CloudXR, no headset</a:t>
            </a:r>
            <a:endParaRPr lang="en-US" sz="1400" dirty="0"/>
          </a:p>
        </p:txBody>
      </p:sp>
      <p:sp>
        <p:nvSpPr>
          <p:cNvPr id="13" name="card-266"/>
          <p:cNvSpPr/>
          <p:nvPr/>
        </p:nvSpPr>
        <p:spPr>
          <a:xfrm>
            <a:off x="608076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-267"/>
          <p:cNvSpPr/>
          <p:nvPr/>
        </p:nvSpPr>
        <p:spPr>
          <a:xfrm>
            <a:off x="621792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badge-text-268"/>
          <p:cNvSpPr txBox="1"/>
          <p:nvPr/>
        </p:nvSpPr>
        <p:spPr>
          <a:xfrm>
            <a:off x="6217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endParaRPr lang="en-US" sz="1400" dirty="0"/>
          </a:p>
        </p:txBody>
      </p:sp>
      <p:sp>
        <p:nvSpPr>
          <p:cNvPr id="16" name="card-head-269"/>
          <p:cNvSpPr txBox="1"/>
          <p:nvPr/>
        </p:nvSpPr>
        <p:spPr>
          <a:xfrm>
            <a:off x="6702552" y="132588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Document</a:t>
            </a:r>
            <a:endParaRPr lang="en-US" sz="1600" dirty="0"/>
          </a:p>
        </p:txBody>
      </p:sp>
      <p:sp>
        <p:nvSpPr>
          <p:cNvPr id="17" name="card-body-270"/>
          <p:cNvSpPr txBox="1"/>
          <p:nvPr/>
        </p:nvSpPr>
        <p:spPr>
          <a:xfrm>
            <a:off x="6263640" y="178308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LiterateP/ book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lp.py check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logbook.md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CLOUDXR.md</a:t>
            </a:r>
            <a:endParaRPr lang="en-US" sz="1400" dirty="0"/>
          </a:p>
        </p:txBody>
      </p:sp>
      <p:sp>
        <p:nvSpPr>
          <p:cNvPr id="18" name="code-bg-271"/>
          <p:cNvSpPr/>
          <p:nvPr/>
        </p:nvSpPr>
        <p:spPr>
          <a:xfrm>
            <a:off x="457200" y="3429000"/>
            <a:ext cx="8229600" cy="109728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code-272"/>
          <p:cNvSpPr txBox="1"/>
          <p:nvPr/>
        </p:nvSpPr>
        <p:spPr>
          <a:xfrm>
            <a:off x="640080" y="3538728"/>
            <a:ext cx="7863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UsdOptixViewer -B build &amp;&amp; cmake --build build -j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./build/UsdOptixViewer assets/textured_scene.usda --select /World/Box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LiterateP/lp.py check      # must print ok for every file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Where to start reading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LaunchParams.h</a:t>
            </a:r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  →  </a:t>
            </a:r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Scene.cpp</a:t>
            </a:r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  →  </a:t>
            </a:r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devicePrograms.cu</a:t>
            </a:r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  →  </a:t>
            </a:r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App.cpp</a:t>
            </a:r>
            <a:endParaRPr lang="en-US" sz="1800" dirty="0"/>
          </a:p>
        </p:txBody>
      </p:sp>
      <p:sp>
        <p:nvSpPr>
          <p:cNvPr id="4" name="close-note"/>
          <p:cNvSpPr txBox="1"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Or read LiterateP/UsdOptixViewer-literate.pdf from the start: same code, with the reasons.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zTools Graphite">
  <a:themeElements>
    <a:clrScheme name="VizTools Graphite">
      <a:dk1>
        <a:srgbClr val="1B1F24"/>
      </a:dk1>
      <a:lt1>
        <a:srgbClr val="FFFFFF"/>
      </a:lt1>
      <a:dk2>
        <a:srgbClr val="2D343C"/>
      </a:dk2>
      <a:lt2>
        <a:srgbClr val="EEF2EE"/>
      </a:lt2>
      <a:accent1>
        <a:srgbClr val="76B900"/>
      </a:accent1>
      <a:accent2>
        <a:srgbClr val="E8A33D"/>
      </a:accent2>
      <a:accent3>
        <a:srgbClr val="3E8E7E"/>
      </a:accent3>
      <a:accent4>
        <a:srgbClr val="8B95A1"/>
      </a:accent4>
      <a:accent5>
        <a:srgbClr val="C9584B"/>
      </a:accent5>
      <a:accent6>
        <a:srgbClr val="5B7DB1"/>
      </a:accent6>
      <a:hlink>
        <a:srgbClr val="3E8E7E"/>
      </a:hlink>
      <a:folHlink>
        <a:srgbClr val="8B95A1"/>
      </a:folHlink>
    </a:clrScheme>
    <a:fontScheme name="VizTools Graphi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UsdOptixViewer: how the code works</dc:title>
  <dc:subject>PptxGenJS Presentation</dc:subject>
  <dc:creator>VizTools</dc:creator>
  <cp:lastModifiedBy>VizTools</cp:lastModifiedBy>
  <cp:revision>1</cp:revision>
  <dcterms:created xsi:type="dcterms:W3CDTF">2026-10-29T18:06:33Z</dcterms:created>
  <dcterms:modified xsi:type="dcterms:W3CDTF">2026-10-29T18:06:33Z</dcterms:modified>
</cp:coreProperties>
</file>